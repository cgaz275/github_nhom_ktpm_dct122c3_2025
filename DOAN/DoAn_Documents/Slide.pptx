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7137400" cy="4089400"/>
  <p:notesSz cx="6858000" cy="9144000"/>
  <p:embeddedFontLst>
    <p:embeddedFont>
      <p:font typeface="Montserrat Bold" charset="1" panose="00000800000000000000"/>
      <p:regular r:id="rId42"/>
    </p:embeddedFont>
    <p:embeddedFont>
      <p:font typeface="Now" charset="1" panose="00000500000000000000"/>
      <p:regular r:id="rId43"/>
    </p:embeddedFont>
    <p:embeddedFont>
      <p:font typeface="Now Bold" charset="1" panose="00000800000000000000"/>
      <p:regular r:id="rId44"/>
    </p:embeddedFont>
    <p:embeddedFont>
      <p:font typeface="Montserrat" charset="1" panose="000005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embeddings/oleObject3.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embeddings/oleObject4.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embeddings/oleObject5.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embeddings/oleObject6.bin" Type="http://schemas.openxmlformats.org/officeDocument/2006/relationships/oleObject"/><Relationship Id="rId4" Target="../media/image26.png" Type="http://schemas.openxmlformats.org/officeDocument/2006/relationships/image"/><Relationship Id="rId5" Target="../embeddings/oleObject7.bin" Type="http://schemas.openxmlformats.org/officeDocument/2006/relationships/oleObjec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embeddings/oleObject8.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embeddings/oleObject9.bin" Type="http://schemas.openxmlformats.org/officeDocument/2006/relationships/oleObjec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3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3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embeddings/oleObject10.bin" Type="http://schemas.openxmlformats.org/officeDocument/2006/relationships/oleObjec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embeddings/oleObject11.bin" Type="http://schemas.openxmlformats.org/officeDocument/2006/relationships/oleObjec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78876" y="923083"/>
            <a:ext cx="2785999" cy="2432892"/>
          </a:xfrm>
          <a:custGeom>
            <a:avLst/>
            <a:gdLst/>
            <a:ahLst/>
            <a:cxnLst/>
            <a:rect r="r" b="b" t="t" l="l"/>
            <a:pathLst>
              <a:path h="2432892" w="2785999">
                <a:moveTo>
                  <a:pt x="0" y="0"/>
                </a:moveTo>
                <a:lnTo>
                  <a:pt x="2785998" y="0"/>
                </a:lnTo>
                <a:lnTo>
                  <a:pt x="2785998" y="2432891"/>
                </a:lnTo>
                <a:lnTo>
                  <a:pt x="0" y="2432891"/>
                </a:lnTo>
                <a:lnTo>
                  <a:pt x="0" y="0"/>
                </a:lnTo>
                <a:close/>
              </a:path>
            </a:pathLst>
          </a:custGeom>
          <a:blipFill>
            <a:blip r:embed="rId2">
              <a:extLst>
                <a:ext uri="{96DAC541-7B7A-43D3-8B79-37D633B846F1}">
                  <asvg:svgBlip xmlns:asvg="http://schemas.microsoft.com/office/drawing/2016/SVG/main" r:embed="rId3"/>
                </a:ext>
              </a:extLst>
            </a:blip>
            <a:stretch>
              <a:fillRect l="-732" t="-23931" r="0" b="-27350"/>
            </a:stretch>
          </a:blipFill>
        </p:spPr>
      </p:sp>
      <p:sp>
        <p:nvSpPr>
          <p:cNvPr name="Freeform 3" id="3"/>
          <p:cNvSpPr/>
          <p:nvPr/>
        </p:nvSpPr>
        <p:spPr>
          <a:xfrm flipH="false" flipV="false" rot="0">
            <a:off x="2614474" y="1048473"/>
            <a:ext cx="1914802" cy="2182111"/>
          </a:xfrm>
          <a:custGeom>
            <a:avLst/>
            <a:gdLst/>
            <a:ahLst/>
            <a:cxnLst/>
            <a:rect r="r" b="b" t="t" l="l"/>
            <a:pathLst>
              <a:path h="2182111" w="1914802">
                <a:moveTo>
                  <a:pt x="0" y="0"/>
                </a:moveTo>
                <a:lnTo>
                  <a:pt x="1914802" y="0"/>
                </a:lnTo>
                <a:lnTo>
                  <a:pt x="1914802" y="2182111"/>
                </a:lnTo>
                <a:lnTo>
                  <a:pt x="0" y="2182111"/>
                </a:lnTo>
                <a:lnTo>
                  <a:pt x="0" y="0"/>
                </a:lnTo>
                <a:close/>
              </a:path>
            </a:pathLst>
          </a:custGeom>
          <a:blipFill>
            <a:blip r:embed="rId4"/>
            <a:stretch>
              <a:fillRect l="0" t="0" r="0" b="0"/>
            </a:stretch>
          </a:blipFill>
        </p:spPr>
      </p:sp>
      <p:sp>
        <p:nvSpPr>
          <p:cNvPr name="Freeform 4" id="4"/>
          <p:cNvSpPr/>
          <p:nvPr/>
        </p:nvSpPr>
        <p:spPr>
          <a:xfrm flipH="false" flipV="false" rot="0">
            <a:off x="0" y="3184381"/>
            <a:ext cx="748429" cy="884387"/>
          </a:xfrm>
          <a:custGeom>
            <a:avLst/>
            <a:gdLst/>
            <a:ahLst/>
            <a:cxnLst/>
            <a:rect r="r" b="b" t="t" l="l"/>
            <a:pathLst>
              <a:path h="884387" w="748429">
                <a:moveTo>
                  <a:pt x="0" y="0"/>
                </a:moveTo>
                <a:lnTo>
                  <a:pt x="748429" y="0"/>
                </a:lnTo>
                <a:lnTo>
                  <a:pt x="748429" y="884387"/>
                </a:lnTo>
                <a:lnTo>
                  <a:pt x="0" y="884387"/>
                </a:lnTo>
                <a:lnTo>
                  <a:pt x="0" y="0"/>
                </a:lnTo>
                <a:close/>
              </a:path>
            </a:pathLst>
          </a:custGeom>
          <a:blipFill>
            <a:blip r:embed="rId5">
              <a:extLst>
                <a:ext uri="{96DAC541-7B7A-43D3-8B79-37D633B846F1}">
                  <asvg:svgBlip xmlns:asvg="http://schemas.microsoft.com/office/drawing/2016/SVG/main" r:embed="rId6"/>
                </a:ext>
              </a:extLst>
            </a:blip>
            <a:stretch>
              <a:fillRect l="-124695" t="0" r="0" b="-83259"/>
            </a:stretch>
          </a:blipFill>
        </p:spPr>
      </p:sp>
      <p:sp>
        <p:nvSpPr>
          <p:cNvPr name="Freeform 5" id="5"/>
          <p:cNvSpPr/>
          <p:nvPr/>
        </p:nvSpPr>
        <p:spPr>
          <a:xfrm flipH="true" flipV="true" rot="0">
            <a:off x="6433362" y="38695"/>
            <a:ext cx="748429" cy="884387"/>
          </a:xfrm>
          <a:custGeom>
            <a:avLst/>
            <a:gdLst/>
            <a:ahLst/>
            <a:cxnLst/>
            <a:rect r="r" b="b" t="t" l="l"/>
            <a:pathLst>
              <a:path h="884387" w="748429">
                <a:moveTo>
                  <a:pt x="748429" y="884388"/>
                </a:moveTo>
                <a:lnTo>
                  <a:pt x="0" y="884388"/>
                </a:lnTo>
                <a:lnTo>
                  <a:pt x="0" y="0"/>
                </a:lnTo>
                <a:lnTo>
                  <a:pt x="748429" y="0"/>
                </a:lnTo>
                <a:lnTo>
                  <a:pt x="748429" y="884388"/>
                </a:lnTo>
                <a:close/>
              </a:path>
            </a:pathLst>
          </a:custGeom>
          <a:blipFill>
            <a:blip r:embed="rId5">
              <a:extLst>
                <a:ext uri="{96DAC541-7B7A-43D3-8B79-37D633B846F1}">
                  <asvg:svgBlip xmlns:asvg="http://schemas.microsoft.com/office/drawing/2016/SVG/main" r:embed="rId6"/>
                </a:ext>
              </a:extLst>
            </a:blip>
            <a:stretch>
              <a:fillRect l="-124695" t="0" r="0" b="-83259"/>
            </a:stretch>
          </a:blipFill>
        </p:spPr>
      </p:sp>
      <p:sp>
        <p:nvSpPr>
          <p:cNvPr name="Freeform 6" id="6"/>
          <p:cNvSpPr/>
          <p:nvPr/>
        </p:nvSpPr>
        <p:spPr>
          <a:xfrm flipH="false" flipV="false" rot="-5400000">
            <a:off x="5786470" y="2699774"/>
            <a:ext cx="401836" cy="2312725"/>
          </a:xfrm>
          <a:custGeom>
            <a:avLst/>
            <a:gdLst/>
            <a:ahLst/>
            <a:cxnLst/>
            <a:rect r="r" b="b" t="t" l="l"/>
            <a:pathLst>
              <a:path h="2312725" w="401836">
                <a:moveTo>
                  <a:pt x="0" y="0"/>
                </a:moveTo>
                <a:lnTo>
                  <a:pt x="401836" y="0"/>
                </a:lnTo>
                <a:lnTo>
                  <a:pt x="401836" y="2312725"/>
                </a:lnTo>
                <a:lnTo>
                  <a:pt x="0" y="23127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461702" y="402431"/>
            <a:ext cx="2220346" cy="396240"/>
          </a:xfrm>
          <a:prstGeom prst="rect">
            <a:avLst/>
          </a:prstGeom>
        </p:spPr>
        <p:txBody>
          <a:bodyPr anchor="t" rtlCol="false" tIns="0" lIns="0" bIns="0" rIns="0">
            <a:spAutoFit/>
          </a:bodyPr>
          <a:lstStyle/>
          <a:p>
            <a:pPr algn="ctr">
              <a:lnSpc>
                <a:spcPts val="3359"/>
              </a:lnSpc>
            </a:pPr>
            <a:r>
              <a:rPr lang="en-US" b="true" sz="2400">
                <a:solidFill>
                  <a:srgbClr val="0C6980"/>
                </a:solidFill>
                <a:latin typeface="Montserrat Bold"/>
                <a:ea typeface="Montserrat Bold"/>
                <a:cs typeface="Montserrat Bold"/>
                <a:sym typeface="Montserrat Bold"/>
              </a:rPr>
              <a:t>EVERSHOP</a:t>
            </a:r>
          </a:p>
        </p:txBody>
      </p:sp>
      <p:sp>
        <p:nvSpPr>
          <p:cNvPr name="TextBox 8" id="8"/>
          <p:cNvSpPr txBox="true"/>
          <p:nvPr/>
        </p:nvSpPr>
        <p:spPr>
          <a:xfrm rot="0">
            <a:off x="2749979" y="3419616"/>
            <a:ext cx="1643792" cy="206958"/>
          </a:xfrm>
          <a:prstGeom prst="rect">
            <a:avLst/>
          </a:prstGeom>
        </p:spPr>
        <p:txBody>
          <a:bodyPr anchor="t" rtlCol="false" tIns="0" lIns="0" bIns="0" rIns="0">
            <a:spAutoFit/>
          </a:bodyPr>
          <a:lstStyle/>
          <a:p>
            <a:pPr algn="ctr">
              <a:lnSpc>
                <a:spcPts val="1652"/>
              </a:lnSpc>
            </a:pPr>
            <a:r>
              <a:rPr lang="en-US" sz="1180">
                <a:solidFill>
                  <a:srgbClr val="0C6980"/>
                </a:solidFill>
                <a:latin typeface="Now"/>
                <a:ea typeface="Now"/>
                <a:cs typeface="Now"/>
                <a:sym typeface="Now"/>
              </a:rPr>
              <a:t>@evershop shoes store</a:t>
            </a:r>
          </a:p>
        </p:txBody>
      </p:sp>
      <p:sp>
        <p:nvSpPr>
          <p:cNvPr name="Freeform 9" id="9"/>
          <p:cNvSpPr/>
          <p:nvPr/>
        </p:nvSpPr>
        <p:spPr>
          <a:xfrm flipH="false" flipV="false" rot="-5400000">
            <a:off x="955444" y="-916749"/>
            <a:ext cx="401836" cy="2312725"/>
          </a:xfrm>
          <a:custGeom>
            <a:avLst/>
            <a:gdLst/>
            <a:ahLst/>
            <a:cxnLst/>
            <a:rect r="r" b="b" t="t" l="l"/>
            <a:pathLst>
              <a:path h="2312725" w="401836">
                <a:moveTo>
                  <a:pt x="0" y="0"/>
                </a:moveTo>
                <a:lnTo>
                  <a:pt x="401836" y="0"/>
                </a:lnTo>
                <a:lnTo>
                  <a:pt x="401836" y="2312725"/>
                </a:lnTo>
                <a:lnTo>
                  <a:pt x="0" y="23127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5339475" y="2603094"/>
            <a:ext cx="1394700" cy="573135"/>
          </a:xfrm>
          <a:prstGeom prst="rect">
            <a:avLst/>
          </a:prstGeom>
        </p:spPr>
        <p:txBody>
          <a:bodyPr anchor="t" rtlCol="false" tIns="0" lIns="0" bIns="0" rIns="0">
            <a:spAutoFit/>
          </a:bodyPr>
          <a:lstStyle/>
          <a:p>
            <a:pPr algn="ctr">
              <a:lnSpc>
                <a:spcPts val="1182"/>
              </a:lnSpc>
            </a:pPr>
            <a:r>
              <a:rPr lang="en-US" sz="695" b="true">
                <a:solidFill>
                  <a:srgbClr val="0C6980"/>
                </a:solidFill>
                <a:latin typeface="Now Bold"/>
                <a:ea typeface="Now Bold"/>
                <a:cs typeface="Now Bold"/>
                <a:sym typeface="Now Bold"/>
              </a:rPr>
              <a:t>Nhóm 1 </a:t>
            </a:r>
          </a:p>
          <a:p>
            <a:pPr algn="ctr">
              <a:lnSpc>
                <a:spcPts val="1182"/>
              </a:lnSpc>
            </a:pPr>
            <a:r>
              <a:rPr lang="en-US" sz="695">
                <a:solidFill>
                  <a:srgbClr val="0C6980"/>
                </a:solidFill>
                <a:latin typeface="Now"/>
                <a:ea typeface="Now"/>
                <a:cs typeface="Now"/>
                <a:sym typeface="Now"/>
              </a:rPr>
              <a:t>Châu Gia Anh - 3122411002</a:t>
            </a:r>
          </a:p>
          <a:p>
            <a:pPr algn="ctr">
              <a:lnSpc>
                <a:spcPts val="1182"/>
              </a:lnSpc>
            </a:pPr>
            <a:r>
              <a:rPr lang="en-US" sz="695">
                <a:solidFill>
                  <a:srgbClr val="0C6980"/>
                </a:solidFill>
                <a:latin typeface="Now"/>
                <a:ea typeface="Now"/>
                <a:cs typeface="Now"/>
                <a:sym typeface="Now"/>
              </a:rPr>
              <a:t>Dương Lê Khánh 3122411093</a:t>
            </a:r>
          </a:p>
          <a:p>
            <a:pPr algn="ctr">
              <a:lnSpc>
                <a:spcPts val="1182"/>
              </a:lnSpc>
            </a:pPr>
            <a:r>
              <a:rPr lang="en-US" sz="695">
                <a:solidFill>
                  <a:srgbClr val="0C6980"/>
                </a:solidFill>
                <a:latin typeface="Now"/>
                <a:ea typeface="Now"/>
                <a:cs typeface="Now"/>
                <a:sym typeface="Now"/>
              </a:rPr>
              <a:t>Đào Thị Thanh Tâm - 3122411082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9282" y="781352"/>
            <a:ext cx="4414554" cy="2113468"/>
          </a:xfrm>
          <a:custGeom>
            <a:avLst/>
            <a:gdLst/>
            <a:ahLst/>
            <a:cxnLst/>
            <a:rect r="r" b="b" t="t" l="l"/>
            <a:pathLst>
              <a:path h="2113468" w="4414554">
                <a:moveTo>
                  <a:pt x="0" y="0"/>
                </a:moveTo>
                <a:lnTo>
                  <a:pt x="4414555" y="0"/>
                </a:lnTo>
                <a:lnTo>
                  <a:pt x="4414555" y="2113468"/>
                </a:lnTo>
                <a:lnTo>
                  <a:pt x="0" y="2113468"/>
                </a:lnTo>
                <a:lnTo>
                  <a:pt x="0" y="0"/>
                </a:lnTo>
                <a:close/>
              </a:path>
            </a:pathLst>
          </a:custGeom>
          <a:blipFill>
            <a:blip r:embed="rId2"/>
            <a:stretch>
              <a:fillRect l="0" t="0" r="0" b="0"/>
            </a:stretch>
          </a:blipFill>
        </p:spPr>
      </p:sp>
      <p:sp>
        <p:nvSpPr>
          <p:cNvPr name="Freeform 3" id="3"/>
          <p:cNvSpPr/>
          <p:nvPr/>
        </p:nvSpPr>
        <p:spPr>
          <a:xfrm flipH="false" flipV="false" rot="0">
            <a:off x="2600209" y="3166916"/>
            <a:ext cx="1275216" cy="346172"/>
          </a:xfrm>
          <a:custGeom>
            <a:avLst/>
            <a:gdLst/>
            <a:ahLst/>
            <a:cxnLst/>
            <a:rect r="r" b="b" t="t" l="l"/>
            <a:pathLst>
              <a:path h="346172" w="1275216">
                <a:moveTo>
                  <a:pt x="0" y="0"/>
                </a:moveTo>
                <a:lnTo>
                  <a:pt x="1275216" y="0"/>
                </a:lnTo>
                <a:lnTo>
                  <a:pt x="1275216" y="346173"/>
                </a:lnTo>
                <a:lnTo>
                  <a:pt x="0" y="346173"/>
                </a:lnTo>
                <a:lnTo>
                  <a:pt x="0" y="0"/>
                </a:lnTo>
                <a:close/>
              </a:path>
            </a:pathLst>
          </a:custGeom>
          <a:blipFill>
            <a:blip r:embed="rId3"/>
            <a:stretch>
              <a:fillRect l="0" t="0" r="0" b="0"/>
            </a:stretch>
          </a:blipFill>
        </p:spPr>
      </p:sp>
      <p:sp>
        <p:nvSpPr>
          <p:cNvPr name="Freeform 4" id="4"/>
          <p:cNvSpPr/>
          <p:nvPr/>
        </p:nvSpPr>
        <p:spPr>
          <a:xfrm flipH="false" flipV="false" rot="0">
            <a:off x="5738123" y="1310353"/>
            <a:ext cx="996052" cy="377624"/>
          </a:xfrm>
          <a:custGeom>
            <a:avLst/>
            <a:gdLst/>
            <a:ahLst/>
            <a:cxnLst/>
            <a:rect r="r" b="b" t="t" l="l"/>
            <a:pathLst>
              <a:path h="377624" w="996052">
                <a:moveTo>
                  <a:pt x="0" y="0"/>
                </a:moveTo>
                <a:lnTo>
                  <a:pt x="996052" y="0"/>
                </a:lnTo>
                <a:lnTo>
                  <a:pt x="996052" y="377624"/>
                </a:lnTo>
                <a:lnTo>
                  <a:pt x="0" y="377624"/>
                </a:lnTo>
                <a:lnTo>
                  <a:pt x="0" y="0"/>
                </a:lnTo>
                <a:close/>
              </a:path>
            </a:pathLst>
          </a:custGeom>
          <a:blipFill>
            <a:blip r:embed="rId4"/>
            <a:stretch>
              <a:fillRect l="0" t="0" r="0" b="0"/>
            </a:stretch>
          </a:blipFill>
        </p:spPr>
      </p:sp>
      <p:sp>
        <p:nvSpPr>
          <p:cNvPr name="Freeform 5" id="5"/>
          <p:cNvSpPr/>
          <p:nvPr/>
        </p:nvSpPr>
        <p:spPr>
          <a:xfrm flipH="false" flipV="false" rot="0">
            <a:off x="609007" y="2828422"/>
            <a:ext cx="1039343" cy="684667"/>
          </a:xfrm>
          <a:custGeom>
            <a:avLst/>
            <a:gdLst/>
            <a:ahLst/>
            <a:cxnLst/>
            <a:rect r="r" b="b" t="t" l="l"/>
            <a:pathLst>
              <a:path h="684667" w="1039343">
                <a:moveTo>
                  <a:pt x="0" y="0"/>
                </a:moveTo>
                <a:lnTo>
                  <a:pt x="1039343" y="0"/>
                </a:lnTo>
                <a:lnTo>
                  <a:pt x="1039343" y="684667"/>
                </a:lnTo>
                <a:lnTo>
                  <a:pt x="0" y="684667"/>
                </a:lnTo>
                <a:lnTo>
                  <a:pt x="0" y="0"/>
                </a:lnTo>
                <a:close/>
              </a:path>
            </a:pathLst>
          </a:custGeom>
          <a:blipFill>
            <a:blip r:embed="rId5"/>
            <a:stretch>
              <a:fillRect l="0" t="0" r="0" b="0"/>
            </a:stretch>
          </a:blipFill>
        </p:spPr>
      </p:sp>
      <p:sp>
        <p:nvSpPr>
          <p:cNvPr name="Freeform 6" id="6"/>
          <p:cNvSpPr/>
          <p:nvPr/>
        </p:nvSpPr>
        <p:spPr>
          <a:xfrm flipH="false" flipV="false" rot="0">
            <a:off x="411700" y="560577"/>
            <a:ext cx="1150024" cy="531886"/>
          </a:xfrm>
          <a:custGeom>
            <a:avLst/>
            <a:gdLst/>
            <a:ahLst/>
            <a:cxnLst/>
            <a:rect r="r" b="b" t="t" l="l"/>
            <a:pathLst>
              <a:path h="531886" w="1150024">
                <a:moveTo>
                  <a:pt x="0" y="0"/>
                </a:moveTo>
                <a:lnTo>
                  <a:pt x="1150023" y="0"/>
                </a:lnTo>
                <a:lnTo>
                  <a:pt x="1150023" y="531886"/>
                </a:lnTo>
                <a:lnTo>
                  <a:pt x="0" y="531886"/>
                </a:lnTo>
                <a:lnTo>
                  <a:pt x="0" y="0"/>
                </a:lnTo>
                <a:close/>
              </a:path>
            </a:pathLst>
          </a:custGeom>
          <a:blipFill>
            <a:blip r:embed="rId6"/>
            <a:stretch>
              <a:fillRect l="0" t="0" r="0" b="0"/>
            </a:stretch>
          </a:blipFill>
        </p:spPr>
      </p:sp>
      <p:sp>
        <p:nvSpPr>
          <p:cNvPr name="TextBox 7" id="7"/>
          <p:cNvSpPr txBox="true"/>
          <p:nvPr/>
        </p:nvSpPr>
        <p:spPr>
          <a:xfrm rot="0">
            <a:off x="1561723" y="220473"/>
            <a:ext cx="3567914"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Evershop documents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2615" y="655564"/>
            <a:ext cx="2192439" cy="292120"/>
            <a:chOff x="0" y="0"/>
            <a:chExt cx="1450296" cy="193237"/>
          </a:xfrm>
        </p:grpSpPr>
        <p:sp>
          <p:nvSpPr>
            <p:cNvPr name="Freeform 3" id="3"/>
            <p:cNvSpPr/>
            <p:nvPr/>
          </p:nvSpPr>
          <p:spPr>
            <a:xfrm flipH="false" flipV="false" rot="0">
              <a:off x="0" y="0"/>
              <a:ext cx="1450296" cy="193237"/>
            </a:xfrm>
            <a:custGeom>
              <a:avLst/>
              <a:gdLst/>
              <a:ahLst/>
              <a:cxnLst/>
              <a:rect r="r" b="b" t="t" l="l"/>
              <a:pathLst>
                <a:path h="193237" w="1450296">
                  <a:moveTo>
                    <a:pt x="96618" y="0"/>
                  </a:moveTo>
                  <a:lnTo>
                    <a:pt x="1353677" y="0"/>
                  </a:lnTo>
                  <a:cubicBezTo>
                    <a:pt x="1407038" y="0"/>
                    <a:pt x="1450296" y="43258"/>
                    <a:pt x="1450296" y="96618"/>
                  </a:cubicBezTo>
                  <a:lnTo>
                    <a:pt x="1450296" y="96618"/>
                  </a:lnTo>
                  <a:cubicBezTo>
                    <a:pt x="1450296" y="149979"/>
                    <a:pt x="1407038" y="193237"/>
                    <a:pt x="1353677"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1450296" cy="221812"/>
            </a:xfrm>
            <a:prstGeom prst="rect">
              <a:avLst/>
            </a:prstGeom>
          </p:spPr>
          <p:txBody>
            <a:bodyPr anchor="ctr" rtlCol="false" tIns="50800" lIns="50800" bIns="50800" rIns="50800"/>
            <a:lstStyle/>
            <a:p>
              <a:pPr algn="ctr">
                <a:lnSpc>
                  <a:spcPts val="1182"/>
                </a:lnSpc>
              </a:pPr>
            </a:p>
          </p:txBody>
        </p:sp>
      </p:grpSp>
      <p:sp>
        <p:nvSpPr>
          <p:cNvPr name="TextBox 5" id="5"/>
          <p:cNvSpPr txBox="true"/>
          <p:nvPr/>
        </p:nvSpPr>
        <p:spPr>
          <a:xfrm rot="0">
            <a:off x="2354737" y="220473"/>
            <a:ext cx="2550038"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GIỚI THIỆU ĐỀ TÀI</a:t>
            </a:r>
          </a:p>
        </p:txBody>
      </p:sp>
      <p:sp>
        <p:nvSpPr>
          <p:cNvPr name="TextBox 6" id="6"/>
          <p:cNvSpPr txBox="true"/>
          <p:nvPr/>
        </p:nvSpPr>
        <p:spPr>
          <a:xfrm rot="0">
            <a:off x="427508" y="700842"/>
            <a:ext cx="1189041"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1) Tổng quan đề tài</a:t>
            </a:r>
          </a:p>
        </p:txBody>
      </p:sp>
      <p:sp>
        <p:nvSpPr>
          <p:cNvPr name="TextBox 7" id="7"/>
          <p:cNvSpPr txBox="true"/>
          <p:nvPr/>
        </p:nvSpPr>
        <p:spPr>
          <a:xfrm rot="0">
            <a:off x="409575" y="1061983"/>
            <a:ext cx="6440361" cy="620092"/>
          </a:xfrm>
          <a:prstGeom prst="rect">
            <a:avLst/>
          </a:prstGeom>
        </p:spPr>
        <p:txBody>
          <a:bodyPr anchor="t" rtlCol="false" tIns="0" lIns="0" bIns="0" rIns="0">
            <a:spAutoFit/>
          </a:bodyPr>
          <a:lstStyle/>
          <a:p>
            <a:pPr algn="just">
              <a:lnSpc>
                <a:spcPts val="1703"/>
              </a:lnSpc>
            </a:pPr>
            <a:r>
              <a:rPr lang="en-US" sz="925">
                <a:solidFill>
                  <a:srgbClr val="0C6980"/>
                </a:solidFill>
                <a:latin typeface="Montserrat"/>
                <a:ea typeface="Montserrat"/>
                <a:cs typeface="Montserrat"/>
                <a:sym typeface="Montserrat"/>
              </a:rPr>
              <a:t>Evershop Shoes Store là dự án tái sử dụng từ mã nguồn mở evershop platform, mục tiêu là triển khai hoàn thiện hệ thống e-com bán giày. Ưu tiện chọn lựa các modules cần thiết từ mã nguồn mở đã có sẵn để tái sử dụng và thiết kế lại phù hợp cho nghiệp vụ bán giày.</a:t>
            </a:r>
          </a:p>
        </p:txBody>
      </p:sp>
      <p:sp>
        <p:nvSpPr>
          <p:cNvPr name="TextBox 8" id="8"/>
          <p:cNvSpPr txBox="true"/>
          <p:nvPr/>
        </p:nvSpPr>
        <p:spPr>
          <a:xfrm rot="0">
            <a:off x="409575" y="1845074"/>
            <a:ext cx="2317601" cy="159870"/>
          </a:xfrm>
          <a:prstGeom prst="rect">
            <a:avLst/>
          </a:prstGeom>
        </p:spPr>
        <p:txBody>
          <a:bodyPr anchor="t" rtlCol="false" tIns="0" lIns="0" bIns="0" rIns="0">
            <a:spAutoFit/>
          </a:bodyPr>
          <a:lstStyle/>
          <a:p>
            <a:pPr algn="ctr">
              <a:lnSpc>
                <a:spcPts val="1295"/>
              </a:lnSpc>
            </a:pPr>
            <a:r>
              <a:rPr lang="en-US" b="true" sz="925">
                <a:solidFill>
                  <a:srgbClr val="0C6980"/>
                </a:solidFill>
                <a:latin typeface="Montserrat Bold"/>
                <a:ea typeface="Montserrat Bold"/>
                <a:cs typeface="Montserrat Bold"/>
                <a:sym typeface="Montserrat Bold"/>
              </a:rPr>
              <a:t>Kế hoạch xây dựng và kiểm thử sơ bộ</a:t>
            </a:r>
          </a:p>
        </p:txBody>
      </p:sp>
      <p:sp>
        <p:nvSpPr>
          <p:cNvPr name="TextBox 9" id="9"/>
          <p:cNvSpPr txBox="true"/>
          <p:nvPr/>
        </p:nvSpPr>
        <p:spPr>
          <a:xfrm rot="0">
            <a:off x="293814" y="2119244"/>
            <a:ext cx="6440361" cy="1458292"/>
          </a:xfrm>
          <a:prstGeom prst="rect">
            <a:avLst/>
          </a:prstGeom>
        </p:spPr>
        <p:txBody>
          <a:bodyPr anchor="t" rtlCol="false" tIns="0" lIns="0" bIns="0" rIns="0">
            <a:spAutoFit/>
          </a:bodyPr>
          <a:lstStyle/>
          <a:p>
            <a:pPr algn="just" marL="199838" indent="-99919" lvl="1">
              <a:lnSpc>
                <a:spcPts val="1703"/>
              </a:lnSpc>
              <a:buAutoNum type="arabicPeriod" startAt="1"/>
            </a:pPr>
            <a:r>
              <a:rPr lang="en-US" sz="925">
                <a:solidFill>
                  <a:srgbClr val="0C6980"/>
                </a:solidFill>
                <a:latin typeface="Montserrat"/>
                <a:ea typeface="Montserrat"/>
                <a:cs typeface="Montserrat"/>
                <a:sym typeface="Montserrat"/>
              </a:rPr>
              <a:t>Chọn các modules chính (auth,cms, catalog, oms, customer, checkout,..) </a:t>
            </a:r>
          </a:p>
          <a:p>
            <a:pPr algn="just" marL="199838" indent="-99919" lvl="1">
              <a:lnSpc>
                <a:spcPts val="1703"/>
              </a:lnSpc>
              <a:buAutoNum type="arabicPeriod" startAt="1"/>
            </a:pPr>
            <a:r>
              <a:rPr lang="en-US" sz="925">
                <a:solidFill>
                  <a:srgbClr val="0C6980"/>
                </a:solidFill>
                <a:latin typeface="Montserrat"/>
                <a:ea typeface="Montserrat"/>
                <a:cs typeface="Montserrat"/>
                <a:sym typeface="Montserrat"/>
              </a:rPr>
              <a:t>Lập kế hoạch tổng thể, xây dựng Project plan và phân chia công việc, xác định phạm vi, mục tiêu dự án và các tài liệu cần thiết</a:t>
            </a:r>
          </a:p>
          <a:p>
            <a:pPr algn="just" marL="199838" indent="-99919" lvl="1">
              <a:lnSpc>
                <a:spcPts val="1703"/>
              </a:lnSpc>
              <a:buAutoNum type="arabicPeriod" startAt="1"/>
            </a:pPr>
            <a:r>
              <a:rPr lang="en-US" sz="925">
                <a:solidFill>
                  <a:srgbClr val="0C6980"/>
                </a:solidFill>
                <a:latin typeface="Montserrat"/>
                <a:ea typeface="Montserrat"/>
                <a:cs typeface="Montserrat"/>
                <a:sym typeface="Montserrat"/>
              </a:rPr>
              <a:t>Đảm bảo luồng chính hoạt động thành công (KH đặt hàng → admin xác nhận → tạo đơn hàng thành công)</a:t>
            </a:r>
          </a:p>
          <a:p>
            <a:pPr algn="just" marL="199838" indent="-99919" lvl="1">
              <a:lnSpc>
                <a:spcPts val="1703"/>
              </a:lnSpc>
              <a:buAutoNum type="arabicPeriod" startAt="1"/>
            </a:pPr>
            <a:r>
              <a:rPr lang="en-US" sz="925">
                <a:solidFill>
                  <a:srgbClr val="0C6980"/>
                </a:solidFill>
                <a:latin typeface="Montserrat"/>
                <a:ea typeface="Montserrat"/>
                <a:cs typeface="Montserrat"/>
                <a:sym typeface="Montserrat"/>
              </a:rPr>
              <a:t> Xây dựng Test plan → triển khai thành các test cases và phân loại vào thành các test suit phù hợp</a:t>
            </a:r>
          </a:p>
          <a:p>
            <a:pPr algn="just" marL="199838" indent="-99919" lvl="1">
              <a:lnSpc>
                <a:spcPts val="1703"/>
              </a:lnSpc>
              <a:buAutoNum type="arabicPeriod" startAt="1"/>
            </a:pPr>
            <a:r>
              <a:rPr lang="en-US" sz="925">
                <a:solidFill>
                  <a:srgbClr val="0C6980"/>
                </a:solidFill>
                <a:latin typeface="Montserrat"/>
                <a:ea typeface="Montserrat"/>
                <a:cs typeface="Montserrat"/>
                <a:sym typeface="Montserrat"/>
              </a:rPr>
              <a:t> Áp dụng kiểm thử tự động (Jest - unit, intergration ; Cypress - e2e)</a:t>
            </a:r>
          </a:p>
          <a:p>
            <a:pPr algn="just" marL="199838" indent="-99919" lvl="1">
              <a:lnSpc>
                <a:spcPts val="1703"/>
              </a:lnSpc>
              <a:buAutoNum type="arabicPeriod" startAt="1"/>
            </a:pPr>
            <a:r>
              <a:rPr lang="en-US" sz="925">
                <a:solidFill>
                  <a:srgbClr val="0C6980"/>
                </a:solidFill>
                <a:latin typeface="Montserrat"/>
                <a:ea typeface="Montserrat"/>
                <a:cs typeface="Montserrat"/>
                <a:sym typeface="Montserrat"/>
              </a:rPr>
              <a:t>Xây dựng hệ thống CI/CD để build image lên github container registry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9096" y="129983"/>
            <a:ext cx="1066364" cy="3677118"/>
          </a:xfrm>
          <a:custGeom>
            <a:avLst/>
            <a:gdLst/>
            <a:ahLst/>
            <a:cxnLst/>
            <a:rect r="r" b="b" t="t" l="l"/>
            <a:pathLst>
              <a:path h="3677118" w="1066364">
                <a:moveTo>
                  <a:pt x="0" y="0"/>
                </a:moveTo>
                <a:lnTo>
                  <a:pt x="1066365" y="0"/>
                </a:lnTo>
                <a:lnTo>
                  <a:pt x="1066365" y="3677118"/>
                </a:lnTo>
                <a:lnTo>
                  <a:pt x="0" y="3677118"/>
                </a:lnTo>
                <a:lnTo>
                  <a:pt x="0" y="0"/>
                </a:lnTo>
                <a:close/>
              </a:path>
            </a:pathLst>
          </a:custGeom>
          <a:blipFill>
            <a:blip r:embed="rId2"/>
            <a:stretch>
              <a:fillRect l="0" t="0" r="0" b="0"/>
            </a:stretch>
          </a:blipFill>
        </p:spPr>
      </p:sp>
      <p:sp>
        <p:nvSpPr>
          <p:cNvPr name="Freeform 3" id="3"/>
          <p:cNvSpPr/>
          <p:nvPr/>
        </p:nvSpPr>
        <p:spPr>
          <a:xfrm flipH="false" flipV="false" rot="0">
            <a:off x="1405461" y="129983"/>
            <a:ext cx="1470665" cy="1548333"/>
          </a:xfrm>
          <a:custGeom>
            <a:avLst/>
            <a:gdLst/>
            <a:ahLst/>
            <a:cxnLst/>
            <a:rect r="r" b="b" t="t" l="l"/>
            <a:pathLst>
              <a:path h="1548333" w="1470665">
                <a:moveTo>
                  <a:pt x="0" y="0"/>
                </a:moveTo>
                <a:lnTo>
                  <a:pt x="1470664" y="0"/>
                </a:lnTo>
                <a:lnTo>
                  <a:pt x="1470664" y="1548333"/>
                </a:lnTo>
                <a:lnTo>
                  <a:pt x="0" y="1548333"/>
                </a:lnTo>
                <a:lnTo>
                  <a:pt x="0" y="0"/>
                </a:lnTo>
                <a:close/>
              </a:path>
            </a:pathLst>
          </a:custGeom>
          <a:blipFill>
            <a:blip r:embed="rId2"/>
            <a:stretch>
              <a:fillRect l="-27160" t="0" r="-18537" b="-377204"/>
            </a:stretch>
          </a:blipFill>
        </p:spPr>
      </p:sp>
      <p:sp>
        <p:nvSpPr>
          <p:cNvPr name="Freeform 4" id="4"/>
          <p:cNvSpPr/>
          <p:nvPr/>
        </p:nvSpPr>
        <p:spPr>
          <a:xfrm flipH="false" flipV="false" rot="0">
            <a:off x="2996590" y="129983"/>
            <a:ext cx="1470665" cy="2581790"/>
          </a:xfrm>
          <a:custGeom>
            <a:avLst/>
            <a:gdLst/>
            <a:ahLst/>
            <a:cxnLst/>
            <a:rect r="r" b="b" t="t" l="l"/>
            <a:pathLst>
              <a:path h="2581790" w="1470665">
                <a:moveTo>
                  <a:pt x="0" y="0"/>
                </a:moveTo>
                <a:lnTo>
                  <a:pt x="1470664" y="0"/>
                </a:lnTo>
                <a:lnTo>
                  <a:pt x="1470664" y="2581790"/>
                </a:lnTo>
                <a:lnTo>
                  <a:pt x="0" y="2581790"/>
                </a:lnTo>
                <a:lnTo>
                  <a:pt x="0" y="0"/>
                </a:lnTo>
                <a:close/>
              </a:path>
            </a:pathLst>
          </a:custGeom>
          <a:blipFill>
            <a:blip r:embed="rId2"/>
            <a:stretch>
              <a:fillRect l="-27160" t="-67533" r="-18537" b="-118652"/>
            </a:stretch>
          </a:blipFill>
        </p:spPr>
      </p:sp>
      <p:sp>
        <p:nvSpPr>
          <p:cNvPr name="Freeform 5" id="5"/>
          <p:cNvSpPr/>
          <p:nvPr/>
        </p:nvSpPr>
        <p:spPr>
          <a:xfrm flipH="false" flipV="false" rot="0">
            <a:off x="4534117" y="160142"/>
            <a:ext cx="2364938" cy="3171441"/>
          </a:xfrm>
          <a:custGeom>
            <a:avLst/>
            <a:gdLst/>
            <a:ahLst/>
            <a:cxnLst/>
            <a:rect r="r" b="b" t="t" l="l"/>
            <a:pathLst>
              <a:path h="3171441" w="2364938">
                <a:moveTo>
                  <a:pt x="0" y="0"/>
                </a:moveTo>
                <a:lnTo>
                  <a:pt x="2364938" y="0"/>
                </a:lnTo>
                <a:lnTo>
                  <a:pt x="2364938" y="3171442"/>
                </a:lnTo>
                <a:lnTo>
                  <a:pt x="0" y="3171442"/>
                </a:lnTo>
                <a:lnTo>
                  <a:pt x="0" y="0"/>
                </a:lnTo>
                <a:close/>
              </a:path>
            </a:pathLst>
          </a:custGeom>
          <a:blipFill>
            <a:blip r:embed="rId2"/>
            <a:stretch>
              <a:fillRect l="-304" t="-157429" r="0" b="-491"/>
            </a:stretch>
          </a:blipFill>
        </p:spPr>
      </p:sp>
      <p:sp>
        <p:nvSpPr>
          <p:cNvPr name="TextBox 6" id="6"/>
          <p:cNvSpPr txBox="true"/>
          <p:nvPr/>
        </p:nvSpPr>
        <p:spPr>
          <a:xfrm rot="0">
            <a:off x="872279" y="1779440"/>
            <a:ext cx="2550038"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1</a:t>
            </a:r>
          </a:p>
        </p:txBody>
      </p:sp>
      <p:sp>
        <p:nvSpPr>
          <p:cNvPr name="TextBox 7" id="7"/>
          <p:cNvSpPr txBox="true"/>
          <p:nvPr/>
        </p:nvSpPr>
        <p:spPr>
          <a:xfrm rot="0">
            <a:off x="2495611" y="2991479"/>
            <a:ext cx="2550038"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2</a:t>
            </a:r>
          </a:p>
        </p:txBody>
      </p:sp>
      <p:sp>
        <p:nvSpPr>
          <p:cNvPr name="TextBox 8" id="8"/>
          <p:cNvSpPr txBox="true"/>
          <p:nvPr/>
        </p:nvSpPr>
        <p:spPr>
          <a:xfrm rot="0">
            <a:off x="4534117" y="3466996"/>
            <a:ext cx="2550038"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3</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96856" y="93582"/>
            <a:ext cx="2550038"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GIỚI THIỆU ĐỀ TÀI</a:t>
            </a:r>
          </a:p>
        </p:txBody>
      </p:sp>
      <p:grpSp>
        <p:nvGrpSpPr>
          <p:cNvPr name="Group 3" id="3"/>
          <p:cNvGrpSpPr/>
          <p:nvPr/>
        </p:nvGrpSpPr>
        <p:grpSpPr>
          <a:xfrm rot="0">
            <a:off x="-374347" y="615645"/>
            <a:ext cx="2882857" cy="292120"/>
            <a:chOff x="0" y="0"/>
            <a:chExt cx="1907006" cy="193237"/>
          </a:xfrm>
        </p:grpSpPr>
        <p:sp>
          <p:nvSpPr>
            <p:cNvPr name="Freeform 4" id="4"/>
            <p:cNvSpPr/>
            <p:nvPr/>
          </p:nvSpPr>
          <p:spPr>
            <a:xfrm flipH="false" flipV="false" rot="0">
              <a:off x="0" y="0"/>
              <a:ext cx="1907006" cy="193237"/>
            </a:xfrm>
            <a:custGeom>
              <a:avLst/>
              <a:gdLst/>
              <a:ahLst/>
              <a:cxnLst/>
              <a:rect r="r" b="b" t="t" l="l"/>
              <a:pathLst>
                <a:path h="193237" w="1907006">
                  <a:moveTo>
                    <a:pt x="96618" y="0"/>
                  </a:moveTo>
                  <a:lnTo>
                    <a:pt x="1810388" y="0"/>
                  </a:lnTo>
                  <a:cubicBezTo>
                    <a:pt x="1863749" y="0"/>
                    <a:pt x="1907006" y="43258"/>
                    <a:pt x="1907006" y="96618"/>
                  </a:cubicBezTo>
                  <a:lnTo>
                    <a:pt x="1907006" y="96618"/>
                  </a:lnTo>
                  <a:cubicBezTo>
                    <a:pt x="1907006" y="149979"/>
                    <a:pt x="1863749" y="193237"/>
                    <a:pt x="1810388"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5" id="5"/>
            <p:cNvSpPr txBox="true"/>
            <p:nvPr/>
          </p:nvSpPr>
          <p:spPr>
            <a:xfrm>
              <a:off x="0" y="-28575"/>
              <a:ext cx="1907006" cy="221812"/>
            </a:xfrm>
            <a:prstGeom prst="rect">
              <a:avLst/>
            </a:prstGeom>
          </p:spPr>
          <p:txBody>
            <a:bodyPr anchor="ctr" rtlCol="false" tIns="50800" lIns="50800" bIns="50800" rIns="50800"/>
            <a:lstStyle/>
            <a:p>
              <a:pPr algn="ctr">
                <a:lnSpc>
                  <a:spcPts val="1182"/>
                </a:lnSpc>
              </a:pPr>
            </a:p>
          </p:txBody>
        </p:sp>
      </p:grpSp>
      <p:sp>
        <p:nvSpPr>
          <p:cNvPr name="TextBox 6" id="6"/>
          <p:cNvSpPr txBox="true"/>
          <p:nvPr/>
        </p:nvSpPr>
        <p:spPr>
          <a:xfrm rot="0">
            <a:off x="355776" y="660923"/>
            <a:ext cx="1816694"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2) Thách thức trong kiểm thử</a:t>
            </a:r>
          </a:p>
        </p:txBody>
      </p:sp>
      <p:sp>
        <p:nvSpPr>
          <p:cNvPr name="TextBox 7" id="7"/>
          <p:cNvSpPr txBox="true"/>
          <p:nvPr/>
        </p:nvSpPr>
        <p:spPr>
          <a:xfrm rot="0">
            <a:off x="293814" y="1022064"/>
            <a:ext cx="6440361" cy="1248742"/>
          </a:xfrm>
          <a:prstGeom prst="rect">
            <a:avLst/>
          </a:prstGeom>
        </p:spPr>
        <p:txBody>
          <a:bodyPr anchor="t" rtlCol="false" tIns="0" lIns="0" bIns="0" rIns="0">
            <a:spAutoFit/>
          </a:bodyPr>
          <a:lstStyle/>
          <a:p>
            <a:pPr algn="just">
              <a:lnSpc>
                <a:spcPts val="1703"/>
              </a:lnSpc>
            </a:pPr>
            <a:r>
              <a:rPr lang="en-US" sz="925">
                <a:solidFill>
                  <a:srgbClr val="0C6980"/>
                </a:solidFill>
                <a:latin typeface="Montserrat"/>
                <a:ea typeface="Montserrat"/>
                <a:cs typeface="Montserrat"/>
                <a:sym typeface="Montserrat"/>
              </a:rPr>
              <a:t>1) Hệ thống Evershop xây dựng theo hướng platform first để dễ dàng triển khai mở rộng với các sản phẩm khác nhau → hệ thống chặt chẽ, lớn, nhiều trường hợp cần kiểm thử, khó bao phủ kiểm thử toàn bộ hệ thống</a:t>
            </a:r>
          </a:p>
          <a:p>
            <a:pPr algn="just">
              <a:lnSpc>
                <a:spcPts val="1703"/>
              </a:lnSpc>
            </a:pPr>
            <a:r>
              <a:rPr lang="en-US" sz="925">
                <a:solidFill>
                  <a:srgbClr val="0C6980"/>
                </a:solidFill>
                <a:latin typeface="Montserrat"/>
                <a:ea typeface="Montserrat"/>
                <a:cs typeface="Montserrat"/>
                <a:sym typeface="Montserrat"/>
              </a:rPr>
              <a:t>2) Các modules liên hệ nhau chặt chẽ, tái sử dụng nhau để xây dựng, auth và cms là nền tảng chính trước để có thể phát triển các modules tiếp theo → cần chọn lọc và xây dựng có thứ tự</a:t>
            </a:r>
          </a:p>
          <a:p>
            <a:pPr algn="just">
              <a:lnSpc>
                <a:spcPts val="1703"/>
              </a:lnSpc>
            </a:pPr>
            <a:r>
              <a:rPr lang="en-US" sz="925">
                <a:solidFill>
                  <a:srgbClr val="0C6980"/>
                </a:solidFill>
                <a:latin typeface="Montserrat"/>
                <a:ea typeface="Montserrat"/>
                <a:cs typeface="Montserrat"/>
                <a:sym typeface="Montserrat"/>
              </a:rPr>
              <a:t>3) Evershop còn thiếu tính năng chưa hoàn thiện (VD: chưa có tính năng add shipping method → hệ thống lại require shipping method để xử lý giao hàng thành công → crash)</a:t>
            </a:r>
          </a:p>
        </p:txBody>
      </p:sp>
      <p:grpSp>
        <p:nvGrpSpPr>
          <p:cNvPr name="Group 8" id="8"/>
          <p:cNvGrpSpPr/>
          <p:nvPr/>
        </p:nvGrpSpPr>
        <p:grpSpPr>
          <a:xfrm rot="0">
            <a:off x="-374347" y="2518456"/>
            <a:ext cx="3415436" cy="292120"/>
            <a:chOff x="0" y="0"/>
            <a:chExt cx="2259306" cy="193237"/>
          </a:xfrm>
        </p:grpSpPr>
        <p:sp>
          <p:nvSpPr>
            <p:cNvPr name="Freeform 9" id="9"/>
            <p:cNvSpPr/>
            <p:nvPr/>
          </p:nvSpPr>
          <p:spPr>
            <a:xfrm flipH="false" flipV="false" rot="0">
              <a:off x="0" y="0"/>
              <a:ext cx="2259306" cy="193237"/>
            </a:xfrm>
            <a:custGeom>
              <a:avLst/>
              <a:gdLst/>
              <a:ahLst/>
              <a:cxnLst/>
              <a:rect r="r" b="b" t="t" l="l"/>
              <a:pathLst>
                <a:path h="193237" w="2259306">
                  <a:moveTo>
                    <a:pt x="96618" y="0"/>
                  </a:moveTo>
                  <a:lnTo>
                    <a:pt x="2162688" y="0"/>
                  </a:lnTo>
                  <a:cubicBezTo>
                    <a:pt x="2216049" y="0"/>
                    <a:pt x="2259306" y="43258"/>
                    <a:pt x="2259306" y="96618"/>
                  </a:cubicBezTo>
                  <a:lnTo>
                    <a:pt x="2259306" y="96618"/>
                  </a:lnTo>
                  <a:cubicBezTo>
                    <a:pt x="2259306" y="149979"/>
                    <a:pt x="2216049" y="193237"/>
                    <a:pt x="2162688"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10" id="10"/>
            <p:cNvSpPr txBox="true"/>
            <p:nvPr/>
          </p:nvSpPr>
          <p:spPr>
            <a:xfrm>
              <a:off x="0" y="-28575"/>
              <a:ext cx="2259306" cy="221812"/>
            </a:xfrm>
            <a:prstGeom prst="rect">
              <a:avLst/>
            </a:prstGeom>
          </p:spPr>
          <p:txBody>
            <a:bodyPr anchor="ctr" rtlCol="false" tIns="50800" lIns="50800" bIns="50800" rIns="50800"/>
            <a:lstStyle/>
            <a:p>
              <a:pPr algn="ctr">
                <a:lnSpc>
                  <a:spcPts val="1182"/>
                </a:lnSpc>
              </a:pPr>
            </a:p>
          </p:txBody>
        </p:sp>
      </p:grpSp>
      <p:sp>
        <p:nvSpPr>
          <p:cNvPr name="TextBox 11" id="11"/>
          <p:cNvSpPr txBox="true"/>
          <p:nvPr/>
        </p:nvSpPr>
        <p:spPr>
          <a:xfrm rot="0">
            <a:off x="355776" y="2563734"/>
            <a:ext cx="2361953"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3) Các hướng tiếp cận &amp; đóng góp</a:t>
            </a:r>
          </a:p>
        </p:txBody>
      </p:sp>
      <p:sp>
        <p:nvSpPr>
          <p:cNvPr name="TextBox 12" id="12"/>
          <p:cNvSpPr txBox="true"/>
          <p:nvPr/>
        </p:nvSpPr>
        <p:spPr>
          <a:xfrm rot="0">
            <a:off x="293814" y="2924876"/>
            <a:ext cx="6440361" cy="1039192"/>
          </a:xfrm>
          <a:prstGeom prst="rect">
            <a:avLst/>
          </a:prstGeom>
        </p:spPr>
        <p:txBody>
          <a:bodyPr anchor="t" rtlCol="false" tIns="0" lIns="0" bIns="0" rIns="0">
            <a:spAutoFit/>
          </a:bodyPr>
          <a:lstStyle/>
          <a:p>
            <a:pPr algn="just">
              <a:lnSpc>
                <a:spcPts val="1703"/>
              </a:lnSpc>
            </a:pPr>
            <a:r>
              <a:rPr lang="en-US" sz="925">
                <a:solidFill>
                  <a:srgbClr val="0C6980"/>
                </a:solidFill>
                <a:latin typeface="Montserrat"/>
                <a:ea typeface="Montserrat"/>
                <a:cs typeface="Montserrat"/>
                <a:sym typeface="Montserrat"/>
              </a:rPr>
              <a:t>1) Để tiếp cận với hệ thống evershop, cần tìm hiểu cấu trúc và phương hướng xây dựng của một platform-first website. Evershop là Modular monolith, platform-first và server side rendering.</a:t>
            </a:r>
          </a:p>
          <a:p>
            <a:pPr algn="just">
              <a:lnSpc>
                <a:spcPts val="1703"/>
              </a:lnSpc>
            </a:pPr>
            <a:r>
              <a:rPr lang="en-US" sz="925">
                <a:solidFill>
                  <a:srgbClr val="0C6980"/>
                </a:solidFill>
                <a:latin typeface="Montserrat"/>
                <a:ea typeface="Montserrat"/>
                <a:cs typeface="Montserrat"/>
                <a:sym typeface="Montserrat"/>
              </a:rPr>
              <a:t>2) Hỗ trợ hoàn thiện tính năng hệ thống, nghiệp vụ hóa thành cửa hàng bán giày, viết kiểm thử cho các modules đồng thời kiểm tra luồng</a:t>
            </a:r>
          </a:p>
          <a:p>
            <a:pPr algn="just">
              <a:lnSpc>
                <a:spcPts val="1703"/>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74347" y="615645"/>
            <a:ext cx="4791545" cy="292120"/>
            <a:chOff x="0" y="0"/>
            <a:chExt cx="3169601" cy="193237"/>
          </a:xfrm>
        </p:grpSpPr>
        <p:sp>
          <p:nvSpPr>
            <p:cNvPr name="Freeform 3" id="3"/>
            <p:cNvSpPr/>
            <p:nvPr/>
          </p:nvSpPr>
          <p:spPr>
            <a:xfrm flipH="false" flipV="false" rot="0">
              <a:off x="0" y="0"/>
              <a:ext cx="3169601" cy="193237"/>
            </a:xfrm>
            <a:custGeom>
              <a:avLst/>
              <a:gdLst/>
              <a:ahLst/>
              <a:cxnLst/>
              <a:rect r="r" b="b" t="t" l="l"/>
              <a:pathLst>
                <a:path h="193237" w="3169601">
                  <a:moveTo>
                    <a:pt x="96618" y="0"/>
                  </a:moveTo>
                  <a:lnTo>
                    <a:pt x="3072982" y="0"/>
                  </a:lnTo>
                  <a:cubicBezTo>
                    <a:pt x="3126343" y="0"/>
                    <a:pt x="3169601" y="43258"/>
                    <a:pt x="3169601" y="96618"/>
                  </a:cubicBezTo>
                  <a:lnTo>
                    <a:pt x="3169601" y="96618"/>
                  </a:lnTo>
                  <a:cubicBezTo>
                    <a:pt x="3169601" y="149979"/>
                    <a:pt x="3126343" y="193237"/>
                    <a:pt x="3072982"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3169601" cy="221812"/>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344240" y="1074832"/>
            <a:ext cx="3354371" cy="2395178"/>
          </a:xfrm>
          <a:custGeom>
            <a:avLst/>
            <a:gdLst/>
            <a:ahLst/>
            <a:cxnLst/>
            <a:rect r="r" b="b" t="t" l="l"/>
            <a:pathLst>
              <a:path h="2395178" w="3354371">
                <a:moveTo>
                  <a:pt x="0" y="0"/>
                </a:moveTo>
                <a:lnTo>
                  <a:pt x="3354371" y="0"/>
                </a:lnTo>
                <a:lnTo>
                  <a:pt x="3354371" y="2395178"/>
                </a:lnTo>
                <a:lnTo>
                  <a:pt x="0" y="2395178"/>
                </a:lnTo>
                <a:lnTo>
                  <a:pt x="0" y="0"/>
                </a:lnTo>
                <a:close/>
              </a:path>
            </a:pathLst>
          </a:custGeom>
          <a:blipFill>
            <a:blip r:embed="rId2"/>
            <a:stretch>
              <a:fillRect l="0" t="0" r="0" b="0"/>
            </a:stretch>
          </a:blipFill>
          <a:ln w="9525" cap="sq">
            <a:solidFill>
              <a:srgbClr val="0C6980"/>
            </a:solidFill>
            <a:prstDash val="solid"/>
            <a:miter/>
          </a:ln>
        </p:spPr>
      </p:sp>
      <p:sp>
        <p:nvSpPr>
          <p:cNvPr name="Freeform 6" id="6"/>
          <p:cNvSpPr/>
          <p:nvPr/>
        </p:nvSpPr>
        <p:spPr>
          <a:xfrm flipH="false" flipV="false" rot="0">
            <a:off x="3804301" y="1330501"/>
            <a:ext cx="2975113" cy="1883839"/>
          </a:xfrm>
          <a:custGeom>
            <a:avLst/>
            <a:gdLst/>
            <a:ahLst/>
            <a:cxnLst/>
            <a:rect r="r" b="b" t="t" l="l"/>
            <a:pathLst>
              <a:path h="1883839" w="2975113">
                <a:moveTo>
                  <a:pt x="0" y="0"/>
                </a:moveTo>
                <a:lnTo>
                  <a:pt x="2975113" y="0"/>
                </a:lnTo>
                <a:lnTo>
                  <a:pt x="2975113" y="1883840"/>
                </a:lnTo>
                <a:lnTo>
                  <a:pt x="0" y="1883840"/>
                </a:lnTo>
                <a:lnTo>
                  <a:pt x="0" y="0"/>
                </a:lnTo>
                <a:close/>
              </a:path>
            </a:pathLst>
          </a:custGeom>
          <a:blipFill>
            <a:blip r:embed="rId3"/>
            <a:stretch>
              <a:fillRect l="0" t="0" r="-8239" b="0"/>
            </a:stretch>
          </a:blipFill>
        </p:spPr>
      </p:sp>
      <p:sp>
        <p:nvSpPr>
          <p:cNvPr name="TextBox 7" id="7"/>
          <p:cNvSpPr txBox="true"/>
          <p:nvPr/>
        </p:nvSpPr>
        <p:spPr>
          <a:xfrm rot="0">
            <a:off x="2296856" y="93582"/>
            <a:ext cx="2550038"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Kế hoạch kiểm thử</a:t>
            </a:r>
          </a:p>
        </p:txBody>
      </p:sp>
      <p:sp>
        <p:nvSpPr>
          <p:cNvPr name="TextBox 8" id="8"/>
          <p:cNvSpPr txBox="true"/>
          <p:nvPr/>
        </p:nvSpPr>
        <p:spPr>
          <a:xfrm rot="0">
            <a:off x="355776" y="660923"/>
            <a:ext cx="2994917"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Tổng quan qui trình kiểm thử V-Models</a:t>
            </a:r>
          </a:p>
        </p:txBody>
      </p:sp>
      <p:sp>
        <p:nvSpPr>
          <p:cNvPr name="TextBox 9" id="9"/>
          <p:cNvSpPr txBox="true"/>
          <p:nvPr/>
        </p:nvSpPr>
        <p:spPr>
          <a:xfrm rot="0">
            <a:off x="692157" y="3570403"/>
            <a:ext cx="2658537" cy="200992"/>
          </a:xfrm>
          <a:prstGeom prst="rect">
            <a:avLst/>
          </a:prstGeom>
        </p:spPr>
        <p:txBody>
          <a:bodyPr anchor="t" rtlCol="false" tIns="0" lIns="0" bIns="0" rIns="0">
            <a:spAutoFit/>
          </a:bodyPr>
          <a:lstStyle/>
          <a:p>
            <a:pPr algn="just">
              <a:lnSpc>
                <a:spcPts val="1703"/>
              </a:lnSpc>
            </a:pPr>
            <a:r>
              <a:rPr lang="en-US" b="true" sz="925">
                <a:solidFill>
                  <a:srgbClr val="0C6980"/>
                </a:solidFill>
                <a:latin typeface="Montserrat Bold"/>
                <a:ea typeface="Montserrat Bold"/>
                <a:cs typeface="Montserrat Bold"/>
                <a:sym typeface="Montserrat Bold"/>
              </a:rPr>
              <a:t>Kế hoạch xây dựng kiểm thử theo V-model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212520" y="1023807"/>
          <a:ext cx="6172200" cy="7724775"/>
        </p:xfrm>
        <a:graphic>
          <a:graphicData uri="http://schemas.openxmlformats.org/presentationml/2006/ole">
            <p:oleObj imgW="7708900" imgH="92583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3" id="3"/>
          <p:cNvGrpSpPr/>
          <p:nvPr/>
        </p:nvGrpSpPr>
        <p:grpSpPr>
          <a:xfrm rot="0">
            <a:off x="-329108" y="472388"/>
            <a:ext cx="4218518" cy="292120"/>
            <a:chOff x="0" y="0"/>
            <a:chExt cx="2790544" cy="193237"/>
          </a:xfrm>
        </p:grpSpPr>
        <p:sp>
          <p:nvSpPr>
            <p:cNvPr name="Freeform 4" id="4"/>
            <p:cNvSpPr/>
            <p:nvPr/>
          </p:nvSpPr>
          <p:spPr>
            <a:xfrm flipH="false" flipV="false" rot="0">
              <a:off x="0" y="0"/>
              <a:ext cx="2790544" cy="193237"/>
            </a:xfrm>
            <a:custGeom>
              <a:avLst/>
              <a:gdLst/>
              <a:ahLst/>
              <a:cxnLst/>
              <a:rect r="r" b="b" t="t" l="l"/>
              <a:pathLst>
                <a:path h="193237" w="2790544">
                  <a:moveTo>
                    <a:pt x="96618" y="0"/>
                  </a:moveTo>
                  <a:lnTo>
                    <a:pt x="2693926" y="0"/>
                  </a:lnTo>
                  <a:cubicBezTo>
                    <a:pt x="2719550" y="0"/>
                    <a:pt x="2744126" y="10179"/>
                    <a:pt x="2762245" y="28299"/>
                  </a:cubicBezTo>
                  <a:cubicBezTo>
                    <a:pt x="2780365" y="46418"/>
                    <a:pt x="2790544" y="70994"/>
                    <a:pt x="2790544" y="96618"/>
                  </a:cubicBezTo>
                  <a:lnTo>
                    <a:pt x="2790544" y="96618"/>
                  </a:lnTo>
                  <a:cubicBezTo>
                    <a:pt x="2790544" y="149979"/>
                    <a:pt x="2747287" y="193237"/>
                    <a:pt x="2693926"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5" id="5"/>
            <p:cNvSpPr txBox="true"/>
            <p:nvPr/>
          </p:nvSpPr>
          <p:spPr>
            <a:xfrm>
              <a:off x="0" y="-28575"/>
              <a:ext cx="2790544" cy="221812"/>
            </a:xfrm>
            <a:prstGeom prst="rect">
              <a:avLst/>
            </a:prstGeom>
          </p:spPr>
          <p:txBody>
            <a:bodyPr anchor="ctr" rtlCol="false" tIns="50800" lIns="50800" bIns="50800" rIns="50800"/>
            <a:lstStyle/>
            <a:p>
              <a:pPr algn="ctr">
                <a:lnSpc>
                  <a:spcPts val="1182"/>
                </a:lnSpc>
              </a:pPr>
            </a:p>
          </p:txBody>
        </p:sp>
      </p:grpSp>
      <p:sp>
        <p:nvSpPr>
          <p:cNvPr name="TextBox 6" id="6"/>
          <p:cNvSpPr txBox="true"/>
          <p:nvPr/>
        </p:nvSpPr>
        <p:spPr>
          <a:xfrm rot="0">
            <a:off x="401015" y="517666"/>
            <a:ext cx="3216099"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 Phân Tích Yêu Cầu &amp; Kiểm Thử Chấp Nhận (UAT)</a:t>
            </a:r>
          </a:p>
        </p:txBody>
      </p:sp>
      <p:sp>
        <p:nvSpPr>
          <p:cNvPr name="TextBox 7" id="7"/>
          <p:cNvSpPr txBox="true"/>
          <p:nvPr/>
        </p:nvSpPr>
        <p:spPr>
          <a:xfrm rot="0">
            <a:off x="4679449" y="866343"/>
            <a:ext cx="2099965"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Các kịch bản kiểm thử chấp nhận:</a:t>
            </a:r>
          </a:p>
        </p:txBody>
      </p:sp>
      <p:sp>
        <p:nvSpPr>
          <p:cNvPr name="TextBox 8" id="8"/>
          <p:cNvSpPr txBox="true"/>
          <p:nvPr/>
        </p:nvSpPr>
        <p:spPr>
          <a:xfrm rot="0">
            <a:off x="4724688" y="1254345"/>
            <a:ext cx="1858171" cy="1089252"/>
          </a:xfrm>
          <a:prstGeom prst="rect">
            <a:avLst/>
          </a:prstGeom>
        </p:spPr>
        <p:txBody>
          <a:bodyPr anchor="t" rtlCol="false" tIns="0" lIns="0" bIns="0" rIns="0">
            <a:spAutoFit/>
          </a:bodyPr>
          <a:lstStyle/>
          <a:p>
            <a:pPr algn="just" marL="156658" indent="-78329" lvl="1">
              <a:lnSpc>
                <a:spcPts val="1451"/>
              </a:lnSpc>
              <a:buFont typeface="Arial"/>
              <a:buChar char="•"/>
            </a:pPr>
            <a:r>
              <a:rPr lang="en-US" sz="725">
                <a:solidFill>
                  <a:srgbClr val="0C6980"/>
                </a:solidFill>
                <a:latin typeface="Montserrat"/>
                <a:ea typeface="Montserrat"/>
                <a:cs typeface="Montserrat"/>
                <a:sym typeface="Montserrat"/>
              </a:rPr>
              <a:t>Admin tạo sản phẩm → User mua hàng → Thanh toán thành công</a:t>
            </a:r>
          </a:p>
          <a:p>
            <a:pPr algn="just" marL="156658" indent="-78329" lvl="1">
              <a:lnSpc>
                <a:spcPts val="1451"/>
              </a:lnSpc>
              <a:buFont typeface="Arial"/>
              <a:buChar char="•"/>
            </a:pPr>
            <a:r>
              <a:rPr lang="en-US" sz="725">
                <a:solidFill>
                  <a:srgbClr val="0C6980"/>
                </a:solidFill>
                <a:latin typeface="Montserrat"/>
                <a:ea typeface="Montserrat"/>
                <a:cs typeface="Montserrat"/>
                <a:sym typeface="Montserrat"/>
              </a:rPr>
              <a:t>User lọc sản phẩm theo màu/kích cỡ → Kết quả chính xác</a:t>
            </a:r>
          </a:p>
          <a:p>
            <a:pPr algn="just" marL="156658" indent="-78329" lvl="1">
              <a:lnSpc>
                <a:spcPts val="1451"/>
              </a:lnSpc>
              <a:buFont typeface="Arial"/>
              <a:buChar char="•"/>
            </a:pPr>
            <a:r>
              <a:rPr lang="en-US" sz="725">
                <a:solidFill>
                  <a:srgbClr val="0C6980"/>
                </a:solidFill>
                <a:latin typeface="Montserrat"/>
                <a:ea typeface="Montserrat"/>
                <a:cs typeface="Montserrat"/>
                <a:sym typeface="Montserrat"/>
              </a:rPr>
              <a:t>Xác thực truy cập: Admin có quyền, Customer không (role-based)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506" y="314052"/>
            <a:ext cx="3072464" cy="292120"/>
            <a:chOff x="0" y="0"/>
            <a:chExt cx="2032431" cy="193237"/>
          </a:xfrm>
        </p:grpSpPr>
        <p:sp>
          <p:nvSpPr>
            <p:cNvPr name="Freeform 3" id="3"/>
            <p:cNvSpPr/>
            <p:nvPr/>
          </p:nvSpPr>
          <p:spPr>
            <a:xfrm flipH="false" flipV="false" rot="0">
              <a:off x="0" y="0"/>
              <a:ext cx="2032431" cy="193237"/>
            </a:xfrm>
            <a:custGeom>
              <a:avLst/>
              <a:gdLst/>
              <a:ahLst/>
              <a:cxnLst/>
              <a:rect r="r" b="b" t="t" l="l"/>
              <a:pathLst>
                <a:path h="193237" w="2032431">
                  <a:moveTo>
                    <a:pt x="96618" y="0"/>
                  </a:moveTo>
                  <a:lnTo>
                    <a:pt x="1935813" y="0"/>
                  </a:lnTo>
                  <a:cubicBezTo>
                    <a:pt x="1961438" y="0"/>
                    <a:pt x="1986013" y="10179"/>
                    <a:pt x="2004132" y="28299"/>
                  </a:cubicBezTo>
                  <a:cubicBezTo>
                    <a:pt x="2022252" y="46418"/>
                    <a:pt x="2032431" y="70994"/>
                    <a:pt x="2032431" y="96618"/>
                  </a:cubicBezTo>
                  <a:lnTo>
                    <a:pt x="2032431" y="96618"/>
                  </a:lnTo>
                  <a:cubicBezTo>
                    <a:pt x="2032431" y="149979"/>
                    <a:pt x="1989174" y="193237"/>
                    <a:pt x="1935813"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032431" cy="221812"/>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1453439" y="1072783"/>
            <a:ext cx="4236871" cy="1095454"/>
          </a:xfrm>
          <a:custGeom>
            <a:avLst/>
            <a:gdLst/>
            <a:ahLst/>
            <a:cxnLst/>
            <a:rect r="r" b="b" t="t" l="l"/>
            <a:pathLst>
              <a:path h="1095454" w="4236871">
                <a:moveTo>
                  <a:pt x="0" y="0"/>
                </a:moveTo>
                <a:lnTo>
                  <a:pt x="4236872" y="0"/>
                </a:lnTo>
                <a:lnTo>
                  <a:pt x="4236872" y="1095454"/>
                </a:lnTo>
                <a:lnTo>
                  <a:pt x="0" y="1095454"/>
                </a:lnTo>
                <a:lnTo>
                  <a:pt x="0" y="0"/>
                </a:lnTo>
                <a:close/>
              </a:path>
            </a:pathLst>
          </a:custGeom>
          <a:blipFill>
            <a:blip r:embed="rId2"/>
            <a:stretch>
              <a:fillRect l="-1885" t="-1376" r="0" b="0"/>
            </a:stretch>
          </a:blipFill>
        </p:spPr>
      </p:sp>
      <p:sp>
        <p:nvSpPr>
          <p:cNvPr name="Freeform 6" id="6"/>
          <p:cNvSpPr/>
          <p:nvPr/>
        </p:nvSpPr>
        <p:spPr>
          <a:xfrm flipH="false" flipV="false" rot="0">
            <a:off x="1453439" y="2566990"/>
            <a:ext cx="4294266" cy="1119185"/>
          </a:xfrm>
          <a:custGeom>
            <a:avLst/>
            <a:gdLst/>
            <a:ahLst/>
            <a:cxnLst/>
            <a:rect r="r" b="b" t="t" l="l"/>
            <a:pathLst>
              <a:path h="1119185" w="4294266">
                <a:moveTo>
                  <a:pt x="0" y="0"/>
                </a:moveTo>
                <a:lnTo>
                  <a:pt x="4294266" y="0"/>
                </a:lnTo>
                <a:lnTo>
                  <a:pt x="4294266" y="1119185"/>
                </a:lnTo>
                <a:lnTo>
                  <a:pt x="0" y="1119185"/>
                </a:lnTo>
                <a:lnTo>
                  <a:pt x="0" y="0"/>
                </a:lnTo>
                <a:close/>
              </a:path>
            </a:pathLst>
          </a:custGeom>
          <a:blipFill>
            <a:blip r:embed="rId3"/>
            <a:stretch>
              <a:fillRect l="0" t="0" r="0" b="0"/>
            </a:stretch>
          </a:blipFill>
        </p:spPr>
      </p:sp>
      <p:sp>
        <p:nvSpPr>
          <p:cNvPr name="TextBox 7" id="7"/>
          <p:cNvSpPr txBox="true"/>
          <p:nvPr/>
        </p:nvSpPr>
        <p:spPr>
          <a:xfrm rot="0">
            <a:off x="325617" y="359330"/>
            <a:ext cx="2085125"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Workflow (Quy Trình Kiểm Thử)</a:t>
            </a:r>
          </a:p>
        </p:txBody>
      </p:sp>
      <p:sp>
        <p:nvSpPr>
          <p:cNvPr name="TextBox 8" id="8"/>
          <p:cNvSpPr txBox="true"/>
          <p:nvPr/>
        </p:nvSpPr>
        <p:spPr>
          <a:xfrm rot="0">
            <a:off x="288137" y="784258"/>
            <a:ext cx="2030760"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Workflow 1: Admin tạo sản phẩm</a:t>
            </a:r>
          </a:p>
        </p:txBody>
      </p:sp>
      <p:sp>
        <p:nvSpPr>
          <p:cNvPr name="TextBox 9" id="9"/>
          <p:cNvSpPr txBox="true"/>
          <p:nvPr/>
        </p:nvSpPr>
        <p:spPr>
          <a:xfrm rot="0">
            <a:off x="263609" y="2359058"/>
            <a:ext cx="2031653"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Workflow 2: Customer mua hàng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0191" y="1074134"/>
            <a:ext cx="4103367" cy="1947483"/>
          </a:xfrm>
          <a:custGeom>
            <a:avLst/>
            <a:gdLst/>
            <a:ahLst/>
            <a:cxnLst/>
            <a:rect r="r" b="b" t="t" l="l"/>
            <a:pathLst>
              <a:path h="1947483" w="4103367">
                <a:moveTo>
                  <a:pt x="0" y="0"/>
                </a:moveTo>
                <a:lnTo>
                  <a:pt x="4103368" y="0"/>
                </a:lnTo>
                <a:lnTo>
                  <a:pt x="4103368" y="1947482"/>
                </a:lnTo>
                <a:lnTo>
                  <a:pt x="0" y="1947482"/>
                </a:lnTo>
                <a:lnTo>
                  <a:pt x="0" y="0"/>
                </a:lnTo>
                <a:close/>
              </a:path>
            </a:pathLst>
          </a:custGeom>
          <a:blipFill>
            <a:blip r:embed="rId2"/>
            <a:stretch>
              <a:fillRect l="0" t="0" r="0" b="0"/>
            </a:stretch>
          </a:blipFill>
        </p:spPr>
      </p:sp>
      <p:sp>
        <p:nvSpPr>
          <p:cNvPr name="TextBox 3" id="3"/>
          <p:cNvSpPr txBox="true"/>
          <p:nvPr/>
        </p:nvSpPr>
        <p:spPr>
          <a:xfrm rot="0">
            <a:off x="245120" y="321318"/>
            <a:ext cx="2360563"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Workflow 3: Kiểm thử Attributes &amp; Lọc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666" y="200954"/>
            <a:ext cx="3086682" cy="292120"/>
            <a:chOff x="0" y="0"/>
            <a:chExt cx="2041836" cy="193237"/>
          </a:xfrm>
        </p:grpSpPr>
        <p:sp>
          <p:nvSpPr>
            <p:cNvPr name="Freeform 3" id="3"/>
            <p:cNvSpPr/>
            <p:nvPr/>
          </p:nvSpPr>
          <p:spPr>
            <a:xfrm flipH="false" flipV="false" rot="0">
              <a:off x="0" y="0"/>
              <a:ext cx="2041836" cy="193237"/>
            </a:xfrm>
            <a:custGeom>
              <a:avLst/>
              <a:gdLst/>
              <a:ahLst/>
              <a:cxnLst/>
              <a:rect r="r" b="b" t="t" l="l"/>
              <a:pathLst>
                <a:path h="193237" w="2041836">
                  <a:moveTo>
                    <a:pt x="96618" y="0"/>
                  </a:moveTo>
                  <a:lnTo>
                    <a:pt x="1945218" y="0"/>
                  </a:lnTo>
                  <a:cubicBezTo>
                    <a:pt x="1970843" y="0"/>
                    <a:pt x="1995418" y="10179"/>
                    <a:pt x="2013537" y="28299"/>
                  </a:cubicBezTo>
                  <a:cubicBezTo>
                    <a:pt x="2031657" y="46418"/>
                    <a:pt x="2041836" y="70994"/>
                    <a:pt x="2041836" y="96618"/>
                  </a:cubicBezTo>
                  <a:lnTo>
                    <a:pt x="2041836" y="96618"/>
                  </a:lnTo>
                  <a:cubicBezTo>
                    <a:pt x="2041836" y="149979"/>
                    <a:pt x="1998579" y="193237"/>
                    <a:pt x="1945218"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041836" cy="221812"/>
            </a:xfrm>
            <a:prstGeom prst="rect">
              <a:avLst/>
            </a:prstGeom>
          </p:spPr>
          <p:txBody>
            <a:bodyPr anchor="ctr" rtlCol="false" tIns="50800" lIns="50800" bIns="50800" rIns="50800"/>
            <a:lstStyle/>
            <a:p>
              <a:pPr algn="ctr">
                <a:lnSpc>
                  <a:spcPts val="1182"/>
                </a:lnSpc>
              </a:pPr>
            </a:p>
          </p:txBody>
        </p:sp>
      </p:grpSp>
      <p:graphicFrame>
        <p:nvGraphicFramePr>
          <p:cNvPr name="Object 5" id="5"/>
          <p:cNvGraphicFramePr/>
          <p:nvPr/>
        </p:nvGraphicFramePr>
        <p:xfrm>
          <a:off x="204980" y="923995"/>
          <a:ext cx="6324600" cy="3152540"/>
        </p:xfrm>
        <a:graphic>
          <a:graphicData uri="http://schemas.openxmlformats.org/presentationml/2006/ole">
            <p:oleObj imgW="7581900" imgH="4419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295458" y="246233"/>
            <a:ext cx="2062505"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Data Model (Kiểm Thử Dữ Liệu)</a:t>
            </a:r>
          </a:p>
        </p:txBody>
      </p:sp>
      <p:sp>
        <p:nvSpPr>
          <p:cNvPr name="TextBox 7" id="7"/>
          <p:cNvSpPr txBox="true"/>
          <p:nvPr/>
        </p:nvSpPr>
        <p:spPr>
          <a:xfrm rot="0">
            <a:off x="4510573" y="1351133"/>
            <a:ext cx="2337967" cy="1364909"/>
          </a:xfrm>
          <a:prstGeom prst="rect">
            <a:avLst/>
          </a:prstGeom>
        </p:spPr>
        <p:txBody>
          <a:bodyPr anchor="t" rtlCol="false" tIns="0" lIns="0" bIns="0" rIns="0">
            <a:spAutoFit/>
          </a:bodyPr>
          <a:lstStyle/>
          <a:p>
            <a:pPr algn="l">
              <a:lnSpc>
                <a:spcPts val="1388"/>
              </a:lnSpc>
            </a:pPr>
            <a:r>
              <a:rPr lang="en-US" b="true" sz="925">
                <a:solidFill>
                  <a:srgbClr val="0C6980"/>
                </a:solidFill>
                <a:latin typeface="Montserrat Bold"/>
                <a:ea typeface="Montserrat Bold"/>
                <a:cs typeface="Montserrat Bold"/>
                <a:sym typeface="Montserrat Bold"/>
              </a:rPr>
              <a:t>Constraint kiểm thử:</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Product.price &gt;= 0</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Cart.qty &gt; 0 &amp;&amp; qty &lt;= Product.stock</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Order.status: pending → confirmed → shipped → delivered</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Customer.email must be unique</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Category.slug must be unique and SEO-friendly</a:t>
            </a:r>
          </a:p>
        </p:txBody>
      </p:sp>
      <p:sp>
        <p:nvSpPr>
          <p:cNvPr name="TextBox 8" id="8"/>
          <p:cNvSpPr txBox="true"/>
          <p:nvPr/>
        </p:nvSpPr>
        <p:spPr>
          <a:xfrm rot="0">
            <a:off x="91882" y="620277"/>
            <a:ext cx="2949873"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Ví dụ chi tiết (dựa trên hệ thống Evershop):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506" y="314052"/>
            <a:ext cx="3456133" cy="292120"/>
            <a:chOff x="0" y="0"/>
            <a:chExt cx="2286228" cy="193237"/>
          </a:xfrm>
        </p:grpSpPr>
        <p:sp>
          <p:nvSpPr>
            <p:cNvPr name="Freeform 3" id="3"/>
            <p:cNvSpPr/>
            <p:nvPr/>
          </p:nvSpPr>
          <p:spPr>
            <a:xfrm flipH="false" flipV="false" rot="0">
              <a:off x="0" y="0"/>
              <a:ext cx="2286228" cy="193237"/>
            </a:xfrm>
            <a:custGeom>
              <a:avLst/>
              <a:gdLst/>
              <a:ahLst/>
              <a:cxnLst/>
              <a:rect r="r" b="b" t="t" l="l"/>
              <a:pathLst>
                <a:path h="193237" w="2286228">
                  <a:moveTo>
                    <a:pt x="96618" y="0"/>
                  </a:moveTo>
                  <a:lnTo>
                    <a:pt x="2189610" y="0"/>
                  </a:lnTo>
                  <a:cubicBezTo>
                    <a:pt x="2215234" y="0"/>
                    <a:pt x="2239810" y="10179"/>
                    <a:pt x="2257929" y="28299"/>
                  </a:cubicBezTo>
                  <a:cubicBezTo>
                    <a:pt x="2276048" y="46418"/>
                    <a:pt x="2286228" y="70994"/>
                    <a:pt x="2286228" y="96618"/>
                  </a:cubicBezTo>
                  <a:lnTo>
                    <a:pt x="2286228" y="96618"/>
                  </a:lnTo>
                  <a:cubicBezTo>
                    <a:pt x="2286228" y="149979"/>
                    <a:pt x="2242970" y="193237"/>
                    <a:pt x="2189610"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286228" cy="221812"/>
            </a:xfrm>
            <a:prstGeom prst="rect">
              <a:avLst/>
            </a:prstGeom>
          </p:spPr>
          <p:txBody>
            <a:bodyPr anchor="ctr" rtlCol="false" tIns="50800" lIns="50800" bIns="50800" rIns="50800"/>
            <a:lstStyle/>
            <a:p>
              <a:pPr algn="ctr">
                <a:lnSpc>
                  <a:spcPts val="1182"/>
                </a:lnSpc>
              </a:pPr>
            </a:p>
          </p:txBody>
        </p:sp>
      </p:grpSp>
      <p:graphicFrame>
        <p:nvGraphicFramePr>
          <p:cNvPr name="Object 5" id="5"/>
          <p:cNvGraphicFramePr/>
          <p:nvPr/>
        </p:nvGraphicFramePr>
        <p:xfrm>
          <a:off x="236159" y="843347"/>
          <a:ext cx="6324600" cy="2635250"/>
        </p:xfrm>
        <a:graphic>
          <a:graphicData uri="http://schemas.openxmlformats.org/presentationml/2006/ole">
            <p:oleObj imgW="7581900" imgH="3886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325617" y="359330"/>
            <a:ext cx="2650612"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UI/UX Design (Kiểm Thử Giao Diện)</a:t>
            </a:r>
          </a:p>
        </p:txBody>
      </p:sp>
      <p:sp>
        <p:nvSpPr>
          <p:cNvPr name="TextBox 7" id="7"/>
          <p:cNvSpPr txBox="true"/>
          <p:nvPr/>
        </p:nvSpPr>
        <p:spPr>
          <a:xfrm rot="0">
            <a:off x="4516017" y="1422667"/>
            <a:ext cx="2037269" cy="1466037"/>
          </a:xfrm>
          <a:prstGeom prst="rect">
            <a:avLst/>
          </a:prstGeom>
        </p:spPr>
        <p:txBody>
          <a:bodyPr anchor="t" rtlCol="false" tIns="0" lIns="0" bIns="0" rIns="0">
            <a:spAutoFit/>
          </a:bodyPr>
          <a:lstStyle/>
          <a:p>
            <a:pPr algn="l">
              <a:lnSpc>
                <a:spcPts val="1388"/>
              </a:lnSpc>
            </a:pPr>
            <a:r>
              <a:rPr lang="en-US" b="true" sz="925">
                <a:solidFill>
                  <a:srgbClr val="0C6980"/>
                </a:solidFill>
                <a:latin typeface="Montserrat Bold"/>
                <a:ea typeface="Montserrat Bold"/>
                <a:cs typeface="Montserrat Bold"/>
                <a:sym typeface="Montserrat Bold"/>
              </a:rPr>
              <a:t>Kiểm thử UI cụ thể:</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Form validation: bắt buộc, định dạng email, số điện thoại</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Responsive design: mobile/tablet/desktop</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Accessibility: ARIA labels, keyboard navigation</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Visual regression: layout không bị thay đổi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506" y="314052"/>
            <a:ext cx="3018824" cy="292120"/>
            <a:chOff x="0" y="0"/>
            <a:chExt cx="1996948" cy="193237"/>
          </a:xfrm>
        </p:grpSpPr>
        <p:sp>
          <p:nvSpPr>
            <p:cNvPr name="Freeform 3" id="3"/>
            <p:cNvSpPr/>
            <p:nvPr/>
          </p:nvSpPr>
          <p:spPr>
            <a:xfrm flipH="false" flipV="false" rot="0">
              <a:off x="0" y="0"/>
              <a:ext cx="1996948" cy="193237"/>
            </a:xfrm>
            <a:custGeom>
              <a:avLst/>
              <a:gdLst/>
              <a:ahLst/>
              <a:cxnLst/>
              <a:rect r="r" b="b" t="t" l="l"/>
              <a:pathLst>
                <a:path h="193237" w="1996948">
                  <a:moveTo>
                    <a:pt x="96618" y="0"/>
                  </a:moveTo>
                  <a:lnTo>
                    <a:pt x="1900330" y="0"/>
                  </a:lnTo>
                  <a:cubicBezTo>
                    <a:pt x="1953690" y="0"/>
                    <a:pt x="1996948" y="43258"/>
                    <a:pt x="1996948" y="96618"/>
                  </a:cubicBezTo>
                  <a:lnTo>
                    <a:pt x="1996948" y="96618"/>
                  </a:lnTo>
                  <a:cubicBezTo>
                    <a:pt x="1996948" y="149979"/>
                    <a:pt x="1953690" y="193237"/>
                    <a:pt x="1900330"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1996948" cy="221812"/>
            </a:xfrm>
            <a:prstGeom prst="rect">
              <a:avLst/>
            </a:prstGeom>
          </p:spPr>
          <p:txBody>
            <a:bodyPr anchor="ctr" rtlCol="false" tIns="50800" lIns="50800" bIns="50800" rIns="50800"/>
            <a:lstStyle/>
            <a:p>
              <a:pPr algn="ctr">
                <a:lnSpc>
                  <a:spcPts val="1182"/>
                </a:lnSpc>
              </a:pPr>
            </a:p>
          </p:txBody>
        </p:sp>
      </p:grpSp>
      <p:graphicFrame>
        <p:nvGraphicFramePr>
          <p:cNvPr name="Object 5" id="5"/>
          <p:cNvGraphicFramePr/>
          <p:nvPr/>
        </p:nvGraphicFramePr>
        <p:xfrm>
          <a:off x="280378" y="1001244"/>
          <a:ext cx="6324600" cy="2605969"/>
        </p:xfrm>
        <a:graphic>
          <a:graphicData uri="http://schemas.openxmlformats.org/presentationml/2006/ole">
            <p:oleObj imgW="7581900" imgH="3860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325617" y="359330"/>
            <a:ext cx="2288700"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Kiểm Thử Phi Chức Năng</a:t>
            </a:r>
          </a:p>
        </p:txBody>
      </p:sp>
      <p:sp>
        <p:nvSpPr>
          <p:cNvPr name="TextBox 7" id="7"/>
          <p:cNvSpPr txBox="true"/>
          <p:nvPr/>
        </p:nvSpPr>
        <p:spPr>
          <a:xfrm rot="0">
            <a:off x="4708217" y="1163361"/>
            <a:ext cx="1891349" cy="643240"/>
          </a:xfrm>
          <a:prstGeom prst="rect">
            <a:avLst/>
          </a:prstGeom>
        </p:spPr>
        <p:txBody>
          <a:bodyPr anchor="t" rtlCol="false" tIns="0" lIns="0" bIns="0" rIns="0">
            <a:spAutoFit/>
          </a:bodyPr>
          <a:lstStyle/>
          <a:p>
            <a:pPr algn="l">
              <a:lnSpc>
                <a:spcPts val="1295"/>
              </a:lnSpc>
            </a:pPr>
            <a:r>
              <a:rPr lang="en-US" b="true" sz="925">
                <a:solidFill>
                  <a:srgbClr val="0C6980"/>
                </a:solidFill>
                <a:latin typeface="Montserrat Bold"/>
                <a:ea typeface="Montserrat Bold"/>
                <a:cs typeface="Montserrat Bold"/>
                <a:sym typeface="Montserrat Bold"/>
              </a:rPr>
              <a:t>Mục tiêu:</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Load time trang &lt; 3 giây</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API response time &lt; 200ms</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Database query &lt; 100ms</a:t>
            </a:r>
          </a:p>
        </p:txBody>
      </p:sp>
      <p:sp>
        <p:nvSpPr>
          <p:cNvPr name="TextBox 8" id="8"/>
          <p:cNvSpPr txBox="true"/>
          <p:nvPr/>
        </p:nvSpPr>
        <p:spPr>
          <a:xfrm rot="0">
            <a:off x="4708217" y="1913742"/>
            <a:ext cx="2134393" cy="850559"/>
          </a:xfrm>
          <a:prstGeom prst="rect">
            <a:avLst/>
          </a:prstGeom>
        </p:spPr>
        <p:txBody>
          <a:bodyPr anchor="t" rtlCol="false" tIns="0" lIns="0" bIns="0" rIns="0">
            <a:spAutoFit/>
          </a:bodyPr>
          <a:lstStyle/>
          <a:p>
            <a:pPr algn="l">
              <a:lnSpc>
                <a:spcPts val="1388"/>
              </a:lnSpc>
            </a:pPr>
            <a:r>
              <a:rPr lang="en-US" b="true" sz="925">
                <a:solidFill>
                  <a:srgbClr val="0C6980"/>
                </a:solidFill>
                <a:latin typeface="Montserrat Bold"/>
                <a:ea typeface="Montserrat Bold"/>
                <a:cs typeface="Montserrat Bold"/>
                <a:sym typeface="Montserrat Bold"/>
              </a:rPr>
              <a:t>Performance Test:</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Baseline: Đo thời gian hiện tại</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Target: Reduce 20% từ baseline</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Pass: Response time &lt;= target</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 Fail: Response time &gt; target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4212" y="224675"/>
            <a:ext cx="3252558" cy="292120"/>
            <a:chOff x="0" y="0"/>
            <a:chExt cx="2151563" cy="193237"/>
          </a:xfrm>
        </p:grpSpPr>
        <p:sp>
          <p:nvSpPr>
            <p:cNvPr name="Freeform 3" id="3"/>
            <p:cNvSpPr/>
            <p:nvPr/>
          </p:nvSpPr>
          <p:spPr>
            <a:xfrm flipH="false" flipV="false" rot="0">
              <a:off x="0" y="0"/>
              <a:ext cx="2151563" cy="193237"/>
            </a:xfrm>
            <a:custGeom>
              <a:avLst/>
              <a:gdLst/>
              <a:ahLst/>
              <a:cxnLst/>
              <a:rect r="r" b="b" t="t" l="l"/>
              <a:pathLst>
                <a:path h="193237" w="2151563">
                  <a:moveTo>
                    <a:pt x="96618" y="0"/>
                  </a:moveTo>
                  <a:lnTo>
                    <a:pt x="2054945" y="0"/>
                  </a:lnTo>
                  <a:cubicBezTo>
                    <a:pt x="2108306" y="0"/>
                    <a:pt x="2151563" y="43258"/>
                    <a:pt x="2151563" y="96618"/>
                  </a:cubicBezTo>
                  <a:lnTo>
                    <a:pt x="2151563" y="96618"/>
                  </a:lnTo>
                  <a:cubicBezTo>
                    <a:pt x="2151563" y="149979"/>
                    <a:pt x="2108306" y="193237"/>
                    <a:pt x="2054945"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151563" cy="221812"/>
            </a:xfrm>
            <a:prstGeom prst="rect">
              <a:avLst/>
            </a:prstGeom>
          </p:spPr>
          <p:txBody>
            <a:bodyPr anchor="ctr" rtlCol="false" tIns="50800" lIns="50800" bIns="50800" rIns="50800"/>
            <a:lstStyle/>
            <a:p>
              <a:pPr algn="ctr">
                <a:lnSpc>
                  <a:spcPts val="1182"/>
                </a:lnSpc>
              </a:pPr>
            </a:p>
          </p:txBody>
        </p:sp>
      </p:grpSp>
      <p:graphicFrame>
        <p:nvGraphicFramePr>
          <p:cNvPr name="Object 5" id="5"/>
          <p:cNvGraphicFramePr/>
          <p:nvPr/>
        </p:nvGraphicFramePr>
        <p:xfrm>
          <a:off x="645902" y="592444"/>
          <a:ext cx="6172200" cy="3495675"/>
        </p:xfrm>
        <a:graphic>
          <a:graphicData uri="http://schemas.openxmlformats.org/presentationml/2006/ole">
            <p:oleObj imgW="7404100" imgH="47244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306206" y="282477"/>
            <a:ext cx="2288700"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Kiểm Thử Bảo Mật (Security Testing)</a:t>
            </a:r>
          </a:p>
        </p:txBody>
      </p:sp>
      <p:sp>
        <p:nvSpPr>
          <p:cNvPr name="TextBox 7" id="7"/>
          <p:cNvSpPr txBox="true"/>
          <p:nvPr/>
        </p:nvSpPr>
        <p:spPr>
          <a:xfrm rot="0">
            <a:off x="4264077" y="914333"/>
            <a:ext cx="2310110" cy="643240"/>
          </a:xfrm>
          <a:prstGeom prst="rect">
            <a:avLst/>
          </a:prstGeom>
        </p:spPr>
        <p:txBody>
          <a:bodyPr anchor="t" rtlCol="false" tIns="0" lIns="0" bIns="0" rIns="0">
            <a:spAutoFit/>
          </a:bodyPr>
          <a:lstStyle/>
          <a:p>
            <a:pPr algn="l">
              <a:lnSpc>
                <a:spcPts val="1295"/>
              </a:lnSpc>
            </a:pPr>
            <a:r>
              <a:rPr lang="en-US" b="true" sz="925">
                <a:solidFill>
                  <a:srgbClr val="0C6980"/>
                </a:solidFill>
                <a:latin typeface="Montserrat Bold"/>
                <a:ea typeface="Montserrat Bold"/>
                <a:cs typeface="Montserrat Bold"/>
                <a:sym typeface="Montserrat Bold"/>
              </a:rPr>
              <a:t>Công cụ:</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OWASP ZAP: Vulnerability scanning</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Postman: API security testing</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Manual testing: Role-based access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2365" y="570406"/>
            <a:ext cx="2656912" cy="292120"/>
            <a:chOff x="0" y="0"/>
            <a:chExt cx="1757544" cy="193237"/>
          </a:xfrm>
        </p:grpSpPr>
        <p:sp>
          <p:nvSpPr>
            <p:cNvPr name="Freeform 3" id="3"/>
            <p:cNvSpPr/>
            <p:nvPr/>
          </p:nvSpPr>
          <p:spPr>
            <a:xfrm flipH="false" flipV="false" rot="0">
              <a:off x="0" y="0"/>
              <a:ext cx="1757544" cy="193237"/>
            </a:xfrm>
            <a:custGeom>
              <a:avLst/>
              <a:gdLst/>
              <a:ahLst/>
              <a:cxnLst/>
              <a:rect r="r" b="b" t="t" l="l"/>
              <a:pathLst>
                <a:path h="193237" w="1757544">
                  <a:moveTo>
                    <a:pt x="96618" y="0"/>
                  </a:moveTo>
                  <a:lnTo>
                    <a:pt x="1660925" y="0"/>
                  </a:lnTo>
                  <a:cubicBezTo>
                    <a:pt x="1714286" y="0"/>
                    <a:pt x="1757544" y="43258"/>
                    <a:pt x="1757544" y="96618"/>
                  </a:cubicBezTo>
                  <a:lnTo>
                    <a:pt x="1757544" y="96618"/>
                  </a:lnTo>
                  <a:cubicBezTo>
                    <a:pt x="1757544" y="149979"/>
                    <a:pt x="1714286" y="193237"/>
                    <a:pt x="1660925"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1757544" cy="221812"/>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2711607" y="634734"/>
            <a:ext cx="3796440" cy="3283920"/>
          </a:xfrm>
          <a:custGeom>
            <a:avLst/>
            <a:gdLst/>
            <a:ahLst/>
            <a:cxnLst/>
            <a:rect r="r" b="b" t="t" l="l"/>
            <a:pathLst>
              <a:path h="3283920" w="3796440">
                <a:moveTo>
                  <a:pt x="0" y="0"/>
                </a:moveTo>
                <a:lnTo>
                  <a:pt x="3796440" y="0"/>
                </a:lnTo>
                <a:lnTo>
                  <a:pt x="3796440" y="3283920"/>
                </a:lnTo>
                <a:lnTo>
                  <a:pt x="0" y="3283920"/>
                </a:lnTo>
                <a:lnTo>
                  <a:pt x="0" y="0"/>
                </a:lnTo>
                <a:close/>
              </a:path>
            </a:pathLst>
          </a:custGeom>
          <a:blipFill>
            <a:blip r:embed="rId2"/>
            <a:stretch>
              <a:fillRect l="0" t="0" r="0" b="0"/>
            </a:stretch>
          </a:blipFill>
        </p:spPr>
      </p:sp>
      <p:sp>
        <p:nvSpPr>
          <p:cNvPr name="TextBox 6" id="6"/>
          <p:cNvSpPr txBox="true"/>
          <p:nvPr/>
        </p:nvSpPr>
        <p:spPr>
          <a:xfrm rot="0">
            <a:off x="2296856" y="93582"/>
            <a:ext cx="2550038"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Thiết Kế Kiến Trúc</a:t>
            </a:r>
          </a:p>
        </p:txBody>
      </p:sp>
      <p:sp>
        <p:nvSpPr>
          <p:cNvPr name="TextBox 7" id="7"/>
          <p:cNvSpPr txBox="true"/>
          <p:nvPr/>
        </p:nvSpPr>
        <p:spPr>
          <a:xfrm rot="0">
            <a:off x="257758" y="615684"/>
            <a:ext cx="1798611"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Tổng Quan Kiến Trúc</a:t>
            </a:r>
          </a:p>
        </p:txBody>
      </p:sp>
      <p:sp>
        <p:nvSpPr>
          <p:cNvPr name="TextBox 8" id="8"/>
          <p:cNvSpPr txBox="true"/>
          <p:nvPr/>
        </p:nvSpPr>
        <p:spPr>
          <a:xfrm rot="0">
            <a:off x="949401" y="1386944"/>
            <a:ext cx="3077170" cy="1022009"/>
          </a:xfrm>
          <a:prstGeom prst="rect">
            <a:avLst/>
          </a:prstGeom>
        </p:spPr>
        <p:txBody>
          <a:bodyPr anchor="t" rtlCol="false" tIns="0" lIns="0" bIns="0" rIns="0">
            <a:spAutoFit/>
          </a:bodyPr>
          <a:lstStyle/>
          <a:p>
            <a:pPr algn="l">
              <a:lnSpc>
                <a:spcPts val="1388"/>
              </a:lnSpc>
            </a:pPr>
            <a:r>
              <a:rPr lang="en-US" b="true" sz="925">
                <a:solidFill>
                  <a:srgbClr val="0C6980"/>
                </a:solidFill>
                <a:latin typeface="Montserrat Bold"/>
                <a:ea typeface="Montserrat Bold"/>
                <a:cs typeface="Montserrat Bold"/>
                <a:sym typeface="Montserrat Bold"/>
              </a:rPr>
              <a:t>Vấn đề kiểm thử mỗi layer:</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Frontend: Component testing, UI/UX, responsive</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API: Request/response validation, error handling</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Backend: Business logic, module interaction</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Database: Data consistency, constraint validation</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Cache: Cache hit/miss, expiration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9427" y="463089"/>
            <a:ext cx="3109301" cy="292120"/>
            <a:chOff x="0" y="0"/>
            <a:chExt cx="2056799" cy="193237"/>
          </a:xfrm>
        </p:grpSpPr>
        <p:sp>
          <p:nvSpPr>
            <p:cNvPr name="Freeform 3" id="3"/>
            <p:cNvSpPr/>
            <p:nvPr/>
          </p:nvSpPr>
          <p:spPr>
            <a:xfrm flipH="false" flipV="false" rot="0">
              <a:off x="0" y="0"/>
              <a:ext cx="2056799" cy="193237"/>
            </a:xfrm>
            <a:custGeom>
              <a:avLst/>
              <a:gdLst/>
              <a:ahLst/>
              <a:cxnLst/>
              <a:rect r="r" b="b" t="t" l="l"/>
              <a:pathLst>
                <a:path h="193237" w="2056799">
                  <a:moveTo>
                    <a:pt x="96618" y="0"/>
                  </a:moveTo>
                  <a:lnTo>
                    <a:pt x="1960181" y="0"/>
                  </a:lnTo>
                  <a:cubicBezTo>
                    <a:pt x="1985805" y="0"/>
                    <a:pt x="2010381" y="10179"/>
                    <a:pt x="2028500" y="28299"/>
                  </a:cubicBezTo>
                  <a:cubicBezTo>
                    <a:pt x="2046619" y="46418"/>
                    <a:pt x="2056799" y="70994"/>
                    <a:pt x="2056799" y="96618"/>
                  </a:cubicBezTo>
                  <a:lnTo>
                    <a:pt x="2056799" y="96618"/>
                  </a:lnTo>
                  <a:cubicBezTo>
                    <a:pt x="2056799" y="149979"/>
                    <a:pt x="2013541" y="193237"/>
                    <a:pt x="1960181"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056799" cy="221812"/>
            </a:xfrm>
            <a:prstGeom prst="rect">
              <a:avLst/>
            </a:prstGeom>
          </p:spPr>
          <p:txBody>
            <a:bodyPr anchor="ctr" rtlCol="false" tIns="50800" lIns="50800" bIns="50800" rIns="50800"/>
            <a:lstStyle/>
            <a:p>
              <a:pPr algn="ctr">
                <a:lnSpc>
                  <a:spcPts val="1182"/>
                </a:lnSpc>
              </a:pPr>
            </a:p>
          </p:txBody>
        </p:sp>
      </p:grpSp>
      <p:graphicFrame>
        <p:nvGraphicFramePr>
          <p:cNvPr name="Object 5" id="5"/>
          <p:cNvGraphicFramePr/>
          <p:nvPr/>
        </p:nvGraphicFramePr>
        <p:xfrm>
          <a:off x="273858" y="1341527"/>
          <a:ext cx="6324600" cy="2664531"/>
        </p:xfrm>
        <a:graphic>
          <a:graphicData uri="http://schemas.openxmlformats.org/presentationml/2006/ole">
            <p:oleObj imgW="7581900" imgH="39243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6" id="6"/>
          <p:cNvGraphicFramePr/>
          <p:nvPr/>
        </p:nvGraphicFramePr>
        <p:xfrm>
          <a:off x="3923134" y="1296288"/>
          <a:ext cx="6324600" cy="2176521"/>
        </p:xfrm>
        <a:graphic>
          <a:graphicData uri="http://schemas.openxmlformats.org/presentationml/2006/ole">
            <p:oleObj imgW="7581900" imgH="34290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7" id="7"/>
          <p:cNvSpPr txBox="true"/>
          <p:nvPr/>
        </p:nvSpPr>
        <p:spPr>
          <a:xfrm rot="0">
            <a:off x="340697" y="508367"/>
            <a:ext cx="2130364"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Kiểm Thử Thành Phần &amp; Tích Hợp</a:t>
            </a:r>
          </a:p>
        </p:txBody>
      </p:sp>
      <p:sp>
        <p:nvSpPr>
          <p:cNvPr name="TextBox 8" id="8"/>
          <p:cNvSpPr txBox="true"/>
          <p:nvPr/>
        </p:nvSpPr>
        <p:spPr>
          <a:xfrm rot="0">
            <a:off x="702608" y="917362"/>
            <a:ext cx="1825972"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Backend Component Testing:</a:t>
            </a:r>
          </a:p>
        </p:txBody>
      </p:sp>
      <p:sp>
        <p:nvSpPr>
          <p:cNvPr name="TextBox 9" id="9"/>
          <p:cNvSpPr txBox="true"/>
          <p:nvPr/>
        </p:nvSpPr>
        <p:spPr>
          <a:xfrm rot="0">
            <a:off x="4471546" y="917362"/>
            <a:ext cx="1849934"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Front</a:t>
            </a:r>
            <a:r>
              <a:rPr lang="en-US" b="true" sz="925">
                <a:solidFill>
                  <a:srgbClr val="0C6980"/>
                </a:solidFill>
                <a:latin typeface="Montserrat Bold"/>
                <a:ea typeface="Montserrat Bold"/>
                <a:cs typeface="Montserrat Bold"/>
                <a:sym typeface="Montserrat Bold"/>
              </a:rPr>
              <a:t>end Component Testing: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9427" y="463089"/>
            <a:ext cx="3109301" cy="292120"/>
            <a:chOff x="0" y="0"/>
            <a:chExt cx="2056799" cy="193237"/>
          </a:xfrm>
        </p:grpSpPr>
        <p:sp>
          <p:nvSpPr>
            <p:cNvPr name="Freeform 3" id="3"/>
            <p:cNvSpPr/>
            <p:nvPr/>
          </p:nvSpPr>
          <p:spPr>
            <a:xfrm flipH="false" flipV="false" rot="0">
              <a:off x="0" y="0"/>
              <a:ext cx="2056799" cy="193237"/>
            </a:xfrm>
            <a:custGeom>
              <a:avLst/>
              <a:gdLst/>
              <a:ahLst/>
              <a:cxnLst/>
              <a:rect r="r" b="b" t="t" l="l"/>
              <a:pathLst>
                <a:path h="193237" w="2056799">
                  <a:moveTo>
                    <a:pt x="96618" y="0"/>
                  </a:moveTo>
                  <a:lnTo>
                    <a:pt x="1960181" y="0"/>
                  </a:lnTo>
                  <a:cubicBezTo>
                    <a:pt x="1985805" y="0"/>
                    <a:pt x="2010381" y="10179"/>
                    <a:pt x="2028500" y="28299"/>
                  </a:cubicBezTo>
                  <a:cubicBezTo>
                    <a:pt x="2046619" y="46418"/>
                    <a:pt x="2056799" y="70994"/>
                    <a:pt x="2056799" y="96618"/>
                  </a:cubicBezTo>
                  <a:lnTo>
                    <a:pt x="2056799" y="96618"/>
                  </a:lnTo>
                  <a:cubicBezTo>
                    <a:pt x="2056799" y="149979"/>
                    <a:pt x="2013541" y="193237"/>
                    <a:pt x="1960181"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056799" cy="221812"/>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414907" y="1247702"/>
            <a:ext cx="3007842" cy="2082895"/>
          </a:xfrm>
          <a:custGeom>
            <a:avLst/>
            <a:gdLst/>
            <a:ahLst/>
            <a:cxnLst/>
            <a:rect r="r" b="b" t="t" l="l"/>
            <a:pathLst>
              <a:path h="2082895" w="3007842">
                <a:moveTo>
                  <a:pt x="0" y="0"/>
                </a:moveTo>
                <a:lnTo>
                  <a:pt x="3007842" y="0"/>
                </a:lnTo>
                <a:lnTo>
                  <a:pt x="3007842" y="2082895"/>
                </a:lnTo>
                <a:lnTo>
                  <a:pt x="0" y="2082895"/>
                </a:lnTo>
                <a:lnTo>
                  <a:pt x="0" y="0"/>
                </a:lnTo>
                <a:close/>
              </a:path>
            </a:pathLst>
          </a:custGeom>
          <a:blipFill>
            <a:blip r:embed="rId2"/>
            <a:stretch>
              <a:fillRect l="0" t="0" r="0" b="0"/>
            </a:stretch>
          </a:blipFill>
        </p:spPr>
      </p:sp>
      <p:sp>
        <p:nvSpPr>
          <p:cNvPr name="Freeform 6" id="6"/>
          <p:cNvSpPr/>
          <p:nvPr/>
        </p:nvSpPr>
        <p:spPr>
          <a:xfrm flipH="false" flipV="false" rot="0">
            <a:off x="3961559" y="330747"/>
            <a:ext cx="2375971" cy="1262235"/>
          </a:xfrm>
          <a:custGeom>
            <a:avLst/>
            <a:gdLst/>
            <a:ahLst/>
            <a:cxnLst/>
            <a:rect r="r" b="b" t="t" l="l"/>
            <a:pathLst>
              <a:path h="1262235" w="2375971">
                <a:moveTo>
                  <a:pt x="0" y="0"/>
                </a:moveTo>
                <a:lnTo>
                  <a:pt x="2375971" y="0"/>
                </a:lnTo>
                <a:lnTo>
                  <a:pt x="2375971" y="1262234"/>
                </a:lnTo>
                <a:lnTo>
                  <a:pt x="0" y="1262234"/>
                </a:lnTo>
                <a:lnTo>
                  <a:pt x="0" y="0"/>
                </a:lnTo>
                <a:close/>
              </a:path>
            </a:pathLst>
          </a:custGeom>
          <a:blipFill>
            <a:blip r:embed="rId3"/>
            <a:stretch>
              <a:fillRect l="0" t="0" r="0" b="0"/>
            </a:stretch>
          </a:blipFill>
        </p:spPr>
      </p:sp>
      <p:sp>
        <p:nvSpPr>
          <p:cNvPr name="Freeform 7" id="7"/>
          <p:cNvSpPr/>
          <p:nvPr/>
        </p:nvSpPr>
        <p:spPr>
          <a:xfrm flipH="false" flipV="false" rot="0">
            <a:off x="4165344" y="1751641"/>
            <a:ext cx="1968401" cy="782440"/>
          </a:xfrm>
          <a:custGeom>
            <a:avLst/>
            <a:gdLst/>
            <a:ahLst/>
            <a:cxnLst/>
            <a:rect r="r" b="b" t="t" l="l"/>
            <a:pathLst>
              <a:path h="782440" w="1968401">
                <a:moveTo>
                  <a:pt x="0" y="0"/>
                </a:moveTo>
                <a:lnTo>
                  <a:pt x="1968401" y="0"/>
                </a:lnTo>
                <a:lnTo>
                  <a:pt x="1968401" y="782440"/>
                </a:lnTo>
                <a:lnTo>
                  <a:pt x="0" y="782440"/>
                </a:lnTo>
                <a:lnTo>
                  <a:pt x="0" y="0"/>
                </a:lnTo>
                <a:close/>
              </a:path>
            </a:pathLst>
          </a:custGeom>
          <a:blipFill>
            <a:blip r:embed="rId4"/>
            <a:stretch>
              <a:fillRect l="0" t="0" r="0" b="0"/>
            </a:stretch>
          </a:blipFill>
        </p:spPr>
      </p:sp>
      <p:sp>
        <p:nvSpPr>
          <p:cNvPr name="TextBox 8" id="8"/>
          <p:cNvSpPr txBox="true"/>
          <p:nvPr/>
        </p:nvSpPr>
        <p:spPr>
          <a:xfrm rot="0">
            <a:off x="340697" y="508367"/>
            <a:ext cx="2130364"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 Kiểm Thử Triển Khai &amp; CI/CD</a:t>
            </a:r>
          </a:p>
        </p:txBody>
      </p:sp>
      <p:sp>
        <p:nvSpPr>
          <p:cNvPr name="TextBox 9" id="9"/>
          <p:cNvSpPr txBox="true"/>
          <p:nvPr/>
        </p:nvSpPr>
        <p:spPr>
          <a:xfrm rot="0">
            <a:off x="414907" y="942814"/>
            <a:ext cx="1500634"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GitHub Actions Pipeline:</a:t>
            </a:r>
          </a:p>
        </p:txBody>
      </p:sp>
      <p:sp>
        <p:nvSpPr>
          <p:cNvPr name="TextBox 10" id="10"/>
          <p:cNvSpPr txBox="true"/>
          <p:nvPr/>
        </p:nvSpPr>
        <p:spPr>
          <a:xfrm rot="0">
            <a:off x="4074634" y="2664166"/>
            <a:ext cx="2149822" cy="1022009"/>
          </a:xfrm>
          <a:prstGeom prst="rect">
            <a:avLst/>
          </a:prstGeom>
        </p:spPr>
        <p:txBody>
          <a:bodyPr anchor="t" rtlCol="false" tIns="0" lIns="0" bIns="0" rIns="0">
            <a:spAutoFit/>
          </a:bodyPr>
          <a:lstStyle/>
          <a:p>
            <a:pPr algn="l">
              <a:lnSpc>
                <a:spcPts val="1388"/>
              </a:lnSpc>
            </a:pPr>
            <a:r>
              <a:rPr lang="en-US" b="true" sz="925">
                <a:solidFill>
                  <a:srgbClr val="0C6980"/>
                </a:solidFill>
                <a:latin typeface="Montserrat Bold"/>
                <a:ea typeface="Montserrat Bold"/>
                <a:cs typeface="Montserrat Bold"/>
                <a:sym typeface="Montserrat Bold"/>
              </a:rPr>
              <a:t>Kiểm thử CI/CD:</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Verify linting rules enforced</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Unit test coverage &gt;= 70%</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E2E tests pass on staging</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Docker image builds successfully</a:t>
            </a:r>
          </a:p>
          <a:p>
            <a:pPr algn="l" marL="199838" indent="-99919" lvl="1">
              <a:lnSpc>
                <a:spcPts val="1388"/>
              </a:lnSpc>
              <a:buFont typeface="Arial"/>
              <a:buChar char="•"/>
            </a:pPr>
            <a:r>
              <a:rPr lang="en-US" sz="925">
                <a:solidFill>
                  <a:srgbClr val="0C6980"/>
                </a:solidFill>
                <a:latin typeface="Montserrat"/>
                <a:ea typeface="Montserrat"/>
                <a:cs typeface="Montserrat"/>
                <a:sym typeface="Montserrat"/>
              </a:rPr>
              <a:t>Deployment rollback on failure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6330" y="736124"/>
            <a:ext cx="3418434" cy="292120"/>
            <a:chOff x="0" y="0"/>
            <a:chExt cx="2261290" cy="193237"/>
          </a:xfrm>
        </p:grpSpPr>
        <p:sp>
          <p:nvSpPr>
            <p:cNvPr name="Freeform 3" id="3"/>
            <p:cNvSpPr/>
            <p:nvPr/>
          </p:nvSpPr>
          <p:spPr>
            <a:xfrm flipH="false" flipV="false" rot="0">
              <a:off x="0" y="0"/>
              <a:ext cx="2261290" cy="193237"/>
            </a:xfrm>
            <a:custGeom>
              <a:avLst/>
              <a:gdLst/>
              <a:ahLst/>
              <a:cxnLst/>
              <a:rect r="r" b="b" t="t" l="l"/>
              <a:pathLst>
                <a:path h="193237" w="2261290">
                  <a:moveTo>
                    <a:pt x="96618" y="0"/>
                  </a:moveTo>
                  <a:lnTo>
                    <a:pt x="2164672" y="0"/>
                  </a:lnTo>
                  <a:cubicBezTo>
                    <a:pt x="2218032" y="0"/>
                    <a:pt x="2261290" y="43258"/>
                    <a:pt x="2261290" y="96618"/>
                  </a:cubicBezTo>
                  <a:lnTo>
                    <a:pt x="2261290" y="96618"/>
                  </a:lnTo>
                  <a:cubicBezTo>
                    <a:pt x="2261290" y="149979"/>
                    <a:pt x="2218032" y="193237"/>
                    <a:pt x="2164672"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261290" cy="221812"/>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3822180" y="1195817"/>
            <a:ext cx="2698555" cy="2186664"/>
          </a:xfrm>
          <a:custGeom>
            <a:avLst/>
            <a:gdLst/>
            <a:ahLst/>
            <a:cxnLst/>
            <a:rect r="r" b="b" t="t" l="l"/>
            <a:pathLst>
              <a:path h="2186664" w="2698555">
                <a:moveTo>
                  <a:pt x="0" y="0"/>
                </a:moveTo>
                <a:lnTo>
                  <a:pt x="2698555" y="0"/>
                </a:lnTo>
                <a:lnTo>
                  <a:pt x="2698555" y="2186665"/>
                </a:lnTo>
                <a:lnTo>
                  <a:pt x="0" y="2186665"/>
                </a:lnTo>
                <a:lnTo>
                  <a:pt x="0" y="0"/>
                </a:lnTo>
                <a:close/>
              </a:path>
            </a:pathLst>
          </a:custGeom>
          <a:blipFill>
            <a:blip r:embed="rId2"/>
            <a:stretch>
              <a:fillRect l="0" t="0" r="0" b="0"/>
            </a:stretch>
          </a:blipFill>
        </p:spPr>
      </p:sp>
      <p:sp>
        <p:nvSpPr>
          <p:cNvPr name="TextBox 6" id="6"/>
          <p:cNvSpPr txBox="true"/>
          <p:nvPr/>
        </p:nvSpPr>
        <p:spPr>
          <a:xfrm rot="0">
            <a:off x="788891" y="220473"/>
            <a:ext cx="5731844"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 CÁC PHƯƠNG PHÁP TRONG KIỂM THỬ</a:t>
            </a:r>
          </a:p>
        </p:txBody>
      </p:sp>
      <p:sp>
        <p:nvSpPr>
          <p:cNvPr name="TextBox 7" id="7"/>
          <p:cNvSpPr txBox="true"/>
          <p:nvPr/>
        </p:nvSpPr>
        <p:spPr>
          <a:xfrm rot="0">
            <a:off x="453793" y="781402"/>
            <a:ext cx="2379178"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Khái niệm kiểm thử hộp đen và trắng</a:t>
            </a:r>
          </a:p>
        </p:txBody>
      </p:sp>
      <p:sp>
        <p:nvSpPr>
          <p:cNvPr name="TextBox 8" id="8"/>
          <p:cNvSpPr txBox="true"/>
          <p:nvPr/>
        </p:nvSpPr>
        <p:spPr>
          <a:xfrm rot="0">
            <a:off x="286513" y="1539387"/>
            <a:ext cx="3117483" cy="679109"/>
          </a:xfrm>
          <a:prstGeom prst="rect">
            <a:avLst/>
          </a:prstGeom>
        </p:spPr>
        <p:txBody>
          <a:bodyPr anchor="t" rtlCol="false" tIns="0" lIns="0" bIns="0" rIns="0">
            <a:spAutoFit/>
          </a:bodyPr>
          <a:lstStyle/>
          <a:p>
            <a:pPr algn="just">
              <a:lnSpc>
                <a:spcPts val="1388"/>
              </a:lnSpc>
            </a:pPr>
            <a:r>
              <a:rPr lang="en-US" b="true" sz="925">
                <a:solidFill>
                  <a:srgbClr val="0C6980"/>
                </a:solidFill>
                <a:latin typeface="Montserrat Bold"/>
                <a:ea typeface="Montserrat Bold"/>
                <a:cs typeface="Montserrat Bold"/>
                <a:sym typeface="Montserrat Bold"/>
              </a:rPr>
              <a:t>Kiểm thử hộp trắng</a:t>
            </a:r>
            <a:r>
              <a:rPr lang="en-US" sz="925">
                <a:solidFill>
                  <a:srgbClr val="0C6980"/>
                </a:solidFill>
                <a:latin typeface="Montserrat"/>
                <a:ea typeface="Montserrat"/>
                <a:cs typeface="Montserrat"/>
                <a:sym typeface="Montserrat"/>
              </a:rPr>
              <a:t> </a:t>
            </a:r>
            <a:r>
              <a:rPr lang="en-US" b="true" sz="925">
                <a:solidFill>
                  <a:srgbClr val="0C6980"/>
                </a:solidFill>
                <a:latin typeface="Montserrat Bold"/>
                <a:ea typeface="Montserrat Bold"/>
                <a:cs typeface="Montserrat Bold"/>
                <a:sym typeface="Montserrat Bold"/>
              </a:rPr>
              <a:t>(White-box testing)</a:t>
            </a:r>
            <a:r>
              <a:rPr lang="en-US" sz="925">
                <a:solidFill>
                  <a:srgbClr val="0C6980"/>
                </a:solidFill>
                <a:latin typeface="Montserrat"/>
                <a:ea typeface="Montserrat"/>
                <a:cs typeface="Montserrat"/>
                <a:sym typeface="Montserrat"/>
              </a:rPr>
              <a:t> là phương pháp kiểm thử dựa trên việc hiểu rõ cấu trúc bên trong, mã nguồn (source code) và thuật toán của phần mềm</a:t>
            </a:r>
          </a:p>
        </p:txBody>
      </p:sp>
      <p:sp>
        <p:nvSpPr>
          <p:cNvPr name="TextBox 9" id="9"/>
          <p:cNvSpPr txBox="true"/>
          <p:nvPr/>
        </p:nvSpPr>
        <p:spPr>
          <a:xfrm rot="0">
            <a:off x="286513" y="2428046"/>
            <a:ext cx="2959146" cy="679109"/>
          </a:xfrm>
          <a:prstGeom prst="rect">
            <a:avLst/>
          </a:prstGeom>
        </p:spPr>
        <p:txBody>
          <a:bodyPr anchor="t" rtlCol="false" tIns="0" lIns="0" bIns="0" rIns="0">
            <a:spAutoFit/>
          </a:bodyPr>
          <a:lstStyle/>
          <a:p>
            <a:pPr algn="just">
              <a:lnSpc>
                <a:spcPts val="1388"/>
              </a:lnSpc>
            </a:pPr>
            <a:r>
              <a:rPr lang="en-US" b="true" sz="925">
                <a:solidFill>
                  <a:srgbClr val="0C6980"/>
                </a:solidFill>
                <a:latin typeface="Montserrat Bold"/>
                <a:ea typeface="Montserrat Bold"/>
                <a:cs typeface="Montserrat Bold"/>
                <a:sym typeface="Montserrat Bold"/>
              </a:rPr>
              <a:t>Kiểm thử hộp đen (Black-box testing) </a:t>
            </a:r>
            <a:r>
              <a:rPr lang="en-US" sz="925">
                <a:solidFill>
                  <a:srgbClr val="0C6980"/>
                </a:solidFill>
                <a:latin typeface="Montserrat"/>
                <a:ea typeface="Montserrat"/>
                <a:cs typeface="Montserrat"/>
                <a:sym typeface="Montserrat"/>
              </a:rPr>
              <a:t>là phương pháp kiểm thử phần mềm mà người kiểm thử không quan tâm đến cấu trúc bên trong hay mã nguồn của hệ thống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9268" y="328973"/>
            <a:ext cx="3848205" cy="292120"/>
            <a:chOff x="0" y="0"/>
            <a:chExt cx="2545583" cy="193237"/>
          </a:xfrm>
        </p:grpSpPr>
        <p:sp>
          <p:nvSpPr>
            <p:cNvPr name="Freeform 3" id="3"/>
            <p:cNvSpPr/>
            <p:nvPr/>
          </p:nvSpPr>
          <p:spPr>
            <a:xfrm flipH="false" flipV="false" rot="0">
              <a:off x="0" y="0"/>
              <a:ext cx="2545583" cy="193237"/>
            </a:xfrm>
            <a:custGeom>
              <a:avLst/>
              <a:gdLst/>
              <a:ahLst/>
              <a:cxnLst/>
              <a:rect r="r" b="b" t="t" l="l"/>
              <a:pathLst>
                <a:path h="193237" w="2545583">
                  <a:moveTo>
                    <a:pt x="96618" y="0"/>
                  </a:moveTo>
                  <a:lnTo>
                    <a:pt x="2448964" y="0"/>
                  </a:lnTo>
                  <a:cubicBezTo>
                    <a:pt x="2474589" y="0"/>
                    <a:pt x="2499164" y="10179"/>
                    <a:pt x="2517284" y="28299"/>
                  </a:cubicBezTo>
                  <a:cubicBezTo>
                    <a:pt x="2535403" y="46418"/>
                    <a:pt x="2545583" y="70994"/>
                    <a:pt x="2545583" y="96618"/>
                  </a:cubicBezTo>
                  <a:lnTo>
                    <a:pt x="2545583" y="96618"/>
                  </a:lnTo>
                  <a:cubicBezTo>
                    <a:pt x="2545583" y="149979"/>
                    <a:pt x="2502325" y="193237"/>
                    <a:pt x="2448964"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545583" cy="221812"/>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483459" y="942776"/>
            <a:ext cx="4196678" cy="1189609"/>
          </a:xfrm>
          <a:custGeom>
            <a:avLst/>
            <a:gdLst/>
            <a:ahLst/>
            <a:cxnLst/>
            <a:rect r="r" b="b" t="t" l="l"/>
            <a:pathLst>
              <a:path h="1189609" w="4196678">
                <a:moveTo>
                  <a:pt x="0" y="0"/>
                </a:moveTo>
                <a:lnTo>
                  <a:pt x="4196678" y="0"/>
                </a:lnTo>
                <a:lnTo>
                  <a:pt x="4196678" y="1189609"/>
                </a:lnTo>
                <a:lnTo>
                  <a:pt x="0" y="1189609"/>
                </a:lnTo>
                <a:lnTo>
                  <a:pt x="0" y="0"/>
                </a:lnTo>
                <a:close/>
              </a:path>
            </a:pathLst>
          </a:custGeom>
          <a:blipFill>
            <a:blip r:embed="rId2"/>
            <a:stretch>
              <a:fillRect l="0" t="0" r="0" b="0"/>
            </a:stretch>
          </a:blipFill>
        </p:spPr>
      </p:sp>
      <p:sp>
        <p:nvSpPr>
          <p:cNvPr name="Freeform 6" id="6"/>
          <p:cNvSpPr/>
          <p:nvPr/>
        </p:nvSpPr>
        <p:spPr>
          <a:xfrm flipH="false" flipV="false" rot="0">
            <a:off x="483459" y="2303835"/>
            <a:ext cx="4056241" cy="1494800"/>
          </a:xfrm>
          <a:custGeom>
            <a:avLst/>
            <a:gdLst/>
            <a:ahLst/>
            <a:cxnLst/>
            <a:rect r="r" b="b" t="t" l="l"/>
            <a:pathLst>
              <a:path h="1494800" w="4056241">
                <a:moveTo>
                  <a:pt x="0" y="0"/>
                </a:moveTo>
                <a:lnTo>
                  <a:pt x="4056241" y="0"/>
                </a:lnTo>
                <a:lnTo>
                  <a:pt x="4056241" y="1494800"/>
                </a:lnTo>
                <a:lnTo>
                  <a:pt x="0" y="1494800"/>
                </a:lnTo>
                <a:lnTo>
                  <a:pt x="0" y="0"/>
                </a:lnTo>
                <a:close/>
              </a:path>
            </a:pathLst>
          </a:custGeom>
          <a:blipFill>
            <a:blip r:embed="rId3"/>
            <a:stretch>
              <a:fillRect l="0" t="0" r="0" b="0"/>
            </a:stretch>
          </a:blipFill>
        </p:spPr>
      </p:sp>
      <p:sp>
        <p:nvSpPr>
          <p:cNvPr name="TextBox 7" id="7"/>
          <p:cNvSpPr txBox="true"/>
          <p:nvPr/>
        </p:nvSpPr>
        <p:spPr>
          <a:xfrm rot="0">
            <a:off x="370855" y="374251"/>
            <a:ext cx="3118082"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Kiểm Thử Hộp Trắng (White Box Testing)</a:t>
            </a:r>
          </a:p>
        </p:txBody>
      </p:sp>
      <p:sp>
        <p:nvSpPr>
          <p:cNvPr name="TextBox 8" id="8"/>
          <p:cNvSpPr txBox="true"/>
          <p:nvPr/>
        </p:nvSpPr>
        <p:spPr>
          <a:xfrm rot="0">
            <a:off x="5178482" y="1392880"/>
            <a:ext cx="1503946" cy="1290940"/>
          </a:xfrm>
          <a:prstGeom prst="rect">
            <a:avLst/>
          </a:prstGeom>
        </p:spPr>
        <p:txBody>
          <a:bodyPr anchor="t" rtlCol="false" tIns="0" lIns="0" bIns="0" rIns="0">
            <a:spAutoFit/>
          </a:bodyPr>
          <a:lstStyle/>
          <a:p>
            <a:pPr algn="l">
              <a:lnSpc>
                <a:spcPts val="1295"/>
              </a:lnSpc>
            </a:pPr>
            <a:r>
              <a:rPr lang="en-US" b="true" sz="925">
                <a:solidFill>
                  <a:srgbClr val="0C6980"/>
                </a:solidFill>
                <a:latin typeface="Montserrat Bold"/>
                <a:ea typeface="Montserrat Bold"/>
                <a:cs typeface="Montserrat Bold"/>
                <a:sym typeface="Montserrat Bold"/>
              </a:rPr>
              <a:t>Kiểm thử tất cả branches (if/else)</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Kiểm thử loops (0 items, 1 item, nhiều items)</a:t>
            </a:r>
          </a:p>
          <a:p>
            <a:pPr algn="l" marL="199838" indent="-99919" lvl="1">
              <a:lnSpc>
                <a:spcPts val="1295"/>
              </a:lnSpc>
              <a:buFont typeface="Arial"/>
              <a:buChar char="•"/>
            </a:pPr>
            <a:r>
              <a:rPr lang="en-US" sz="925">
                <a:solidFill>
                  <a:srgbClr val="0C6980"/>
                </a:solidFill>
                <a:latin typeface="Montserrat"/>
                <a:ea typeface="Montserrat"/>
                <a:cs typeface="Montserrat"/>
                <a:sym typeface="Montserrat"/>
              </a:rPr>
              <a:t>Kiểm thử edge cases (rounding, zero values)</a:t>
            </a:r>
          </a:p>
        </p:txBody>
      </p:sp>
      <p:sp>
        <p:nvSpPr>
          <p:cNvPr name="TextBox 9" id="9"/>
          <p:cNvSpPr txBox="true"/>
          <p:nvPr/>
        </p:nvSpPr>
        <p:spPr>
          <a:xfrm rot="0">
            <a:off x="409575" y="687310"/>
            <a:ext cx="2949873"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Ví dụ chi tiết (dựa trên hệ thống Evershop):</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9575" y="629654"/>
            <a:ext cx="4306002" cy="2836442"/>
          </a:xfrm>
          <a:custGeom>
            <a:avLst/>
            <a:gdLst/>
            <a:ahLst/>
            <a:cxnLst/>
            <a:rect r="r" b="b" t="t" l="l"/>
            <a:pathLst>
              <a:path h="2836442" w="4306002">
                <a:moveTo>
                  <a:pt x="0" y="0"/>
                </a:moveTo>
                <a:lnTo>
                  <a:pt x="4306002" y="0"/>
                </a:lnTo>
                <a:lnTo>
                  <a:pt x="4306002" y="2836442"/>
                </a:lnTo>
                <a:lnTo>
                  <a:pt x="0" y="2836442"/>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59268" y="328973"/>
            <a:ext cx="3848205" cy="292120"/>
            <a:chOff x="0" y="0"/>
            <a:chExt cx="2545583" cy="193237"/>
          </a:xfrm>
        </p:grpSpPr>
        <p:sp>
          <p:nvSpPr>
            <p:cNvPr name="Freeform 3" id="3"/>
            <p:cNvSpPr/>
            <p:nvPr/>
          </p:nvSpPr>
          <p:spPr>
            <a:xfrm flipH="false" flipV="false" rot="0">
              <a:off x="0" y="0"/>
              <a:ext cx="2545583" cy="193237"/>
            </a:xfrm>
            <a:custGeom>
              <a:avLst/>
              <a:gdLst/>
              <a:ahLst/>
              <a:cxnLst/>
              <a:rect r="r" b="b" t="t" l="l"/>
              <a:pathLst>
                <a:path h="193237" w="2545583">
                  <a:moveTo>
                    <a:pt x="96618" y="0"/>
                  </a:moveTo>
                  <a:lnTo>
                    <a:pt x="2448964" y="0"/>
                  </a:lnTo>
                  <a:cubicBezTo>
                    <a:pt x="2474589" y="0"/>
                    <a:pt x="2499164" y="10179"/>
                    <a:pt x="2517284" y="28299"/>
                  </a:cubicBezTo>
                  <a:cubicBezTo>
                    <a:pt x="2535403" y="46418"/>
                    <a:pt x="2545583" y="70994"/>
                    <a:pt x="2545583" y="96618"/>
                  </a:cubicBezTo>
                  <a:lnTo>
                    <a:pt x="2545583" y="96618"/>
                  </a:lnTo>
                  <a:cubicBezTo>
                    <a:pt x="2545583" y="149979"/>
                    <a:pt x="2502325" y="193237"/>
                    <a:pt x="2448964"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545583" cy="221812"/>
            </a:xfrm>
            <a:prstGeom prst="rect">
              <a:avLst/>
            </a:prstGeom>
          </p:spPr>
          <p:txBody>
            <a:bodyPr anchor="ctr" rtlCol="false" tIns="50800" lIns="50800" bIns="50800" rIns="50800"/>
            <a:lstStyle/>
            <a:p>
              <a:pPr algn="ctr">
                <a:lnSpc>
                  <a:spcPts val="1182"/>
                </a:lnSpc>
              </a:pPr>
            </a:p>
          </p:txBody>
        </p:sp>
      </p:grpSp>
      <p:sp>
        <p:nvSpPr>
          <p:cNvPr name="TextBox 5" id="5"/>
          <p:cNvSpPr txBox="true"/>
          <p:nvPr/>
        </p:nvSpPr>
        <p:spPr>
          <a:xfrm rot="0">
            <a:off x="370855" y="374251"/>
            <a:ext cx="3118082"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Kiểm Thử Hộp Đen (Black Box Testing)</a:t>
            </a:r>
          </a:p>
        </p:txBody>
      </p:sp>
      <p:sp>
        <p:nvSpPr>
          <p:cNvPr name="TextBox 6" id="6"/>
          <p:cNvSpPr txBox="true"/>
          <p:nvPr/>
        </p:nvSpPr>
        <p:spPr>
          <a:xfrm rot="0">
            <a:off x="301359" y="1040060"/>
            <a:ext cx="3187578" cy="2512703"/>
          </a:xfrm>
          <a:prstGeom prst="rect">
            <a:avLst/>
          </a:prstGeom>
        </p:spPr>
        <p:txBody>
          <a:bodyPr anchor="t" rtlCol="false" tIns="0" lIns="0" bIns="0" rIns="0">
            <a:spAutoFit/>
          </a:bodyPr>
          <a:lstStyle/>
          <a:p>
            <a:pPr algn="l">
              <a:lnSpc>
                <a:spcPts val="2000"/>
              </a:lnSpc>
            </a:pPr>
            <a:r>
              <a:rPr lang="en-US" b="true" sz="800">
                <a:solidFill>
                  <a:srgbClr val="0C6980"/>
                </a:solidFill>
                <a:latin typeface="Montserrat Bold"/>
                <a:ea typeface="Montserrat Bold"/>
                <a:cs typeface="Montserrat Bold"/>
                <a:sym typeface="Montserrat Bold"/>
              </a:rPr>
              <a:t>Kịch bản 1: Thêm sản phẩm còn hàng</a:t>
            </a:r>
          </a:p>
          <a:p>
            <a:pPr algn="l">
              <a:lnSpc>
                <a:spcPts val="2000"/>
              </a:lnSpc>
            </a:pPr>
            <a:r>
              <a:rPr lang="en-US" sz="800">
                <a:solidFill>
                  <a:srgbClr val="0C6980"/>
                </a:solidFill>
                <a:latin typeface="Montserrat"/>
                <a:ea typeface="Montserrat"/>
                <a:cs typeface="Montserrat"/>
                <a:sym typeface="Montserrat"/>
              </a:rPr>
              <a:t>Cho phép (Given): Người dùng đang ở trang Chi tiết sản phẩm.</a:t>
            </a:r>
          </a:p>
          <a:p>
            <a:pPr algn="l">
              <a:lnSpc>
                <a:spcPts val="2000"/>
              </a:lnSpc>
            </a:pPr>
            <a:r>
              <a:rPr lang="en-US" sz="800">
                <a:solidFill>
                  <a:srgbClr val="0C6980"/>
                </a:solidFill>
                <a:latin typeface="Montserrat"/>
                <a:ea typeface="Montserrat"/>
                <a:cs typeface="Montserrat"/>
                <a:sym typeface="Montserrat"/>
              </a:rPr>
              <a:t>Khi (When): Người dùng nhấn nút "Thêm vào giỏ hàng".</a:t>
            </a:r>
          </a:p>
          <a:p>
            <a:pPr algn="l">
              <a:lnSpc>
                <a:spcPts val="2000"/>
              </a:lnSpc>
            </a:pPr>
            <a:r>
              <a:rPr lang="en-US" sz="800">
                <a:solidFill>
                  <a:srgbClr val="0C6980"/>
                </a:solidFill>
                <a:latin typeface="Montserrat"/>
                <a:ea typeface="Montserrat"/>
                <a:cs typeface="Montserrat"/>
                <a:sym typeface="Montserrat"/>
              </a:rPr>
              <a:t>Thì (Then): Số lượng sản phẩm trong giỏ hàng tăng lên.</a:t>
            </a:r>
          </a:p>
          <a:p>
            <a:pPr algn="l">
              <a:lnSpc>
                <a:spcPts val="2000"/>
              </a:lnSpc>
            </a:pPr>
            <a:r>
              <a:rPr lang="en-US" sz="800">
                <a:solidFill>
                  <a:srgbClr val="0C6980"/>
                </a:solidFill>
                <a:latin typeface="Montserrat"/>
                <a:ea typeface="Montserrat"/>
                <a:cs typeface="Montserrat"/>
                <a:sym typeface="Montserrat"/>
              </a:rPr>
              <a:t>Và (And): Thông báo hiển thị "Đã thêm vào giỏ hàng".</a:t>
            </a:r>
          </a:p>
          <a:p>
            <a:pPr algn="l">
              <a:lnSpc>
                <a:spcPts val="2000"/>
              </a:lnSpc>
            </a:pPr>
            <a:r>
              <a:rPr lang="en-US" b="true" sz="800">
                <a:solidFill>
                  <a:srgbClr val="0C6980"/>
                </a:solidFill>
                <a:latin typeface="Montserrat Bold"/>
                <a:ea typeface="Montserrat Bold"/>
                <a:cs typeface="Montserrat Bold"/>
                <a:sym typeface="Montserrat Bold"/>
              </a:rPr>
              <a:t>Kịch bản 2: Thêm sản phẩm đã hết hàng</a:t>
            </a:r>
          </a:p>
          <a:p>
            <a:pPr algn="l">
              <a:lnSpc>
                <a:spcPts val="2000"/>
              </a:lnSpc>
            </a:pPr>
            <a:r>
              <a:rPr lang="en-US" sz="800">
                <a:solidFill>
                  <a:srgbClr val="0C6980"/>
                </a:solidFill>
                <a:latin typeface="Montserrat"/>
                <a:ea typeface="Montserrat"/>
                <a:cs typeface="Montserrat"/>
                <a:sym typeface="Montserrat"/>
              </a:rPr>
              <a:t>Cho phép: Sản phẩm có số lượng tồn kho = 0.</a:t>
            </a:r>
          </a:p>
          <a:p>
            <a:pPr algn="l">
              <a:lnSpc>
                <a:spcPts val="2000"/>
              </a:lnSpc>
            </a:pPr>
            <a:r>
              <a:rPr lang="en-US" sz="800">
                <a:solidFill>
                  <a:srgbClr val="0C6980"/>
                </a:solidFill>
                <a:latin typeface="Montserrat"/>
                <a:ea typeface="Montserrat"/>
                <a:cs typeface="Montserrat"/>
                <a:sym typeface="Montserrat"/>
              </a:rPr>
              <a:t>Khi: Người dùng nhấn nút "Thêm vào giỏ hàng".</a:t>
            </a:r>
          </a:p>
          <a:p>
            <a:pPr algn="l">
              <a:lnSpc>
                <a:spcPts val="2000"/>
              </a:lnSpc>
            </a:pPr>
            <a:r>
              <a:rPr lang="en-US" sz="800">
                <a:solidFill>
                  <a:srgbClr val="0C6980"/>
                </a:solidFill>
                <a:latin typeface="Montserrat"/>
                <a:ea typeface="Montserrat"/>
                <a:cs typeface="Montserrat"/>
                <a:sym typeface="Montserrat"/>
              </a:rPr>
              <a:t>Thì: Thông báo lỗi hiển thị "Hết hàng".</a:t>
            </a:r>
          </a:p>
          <a:p>
            <a:pPr algn="l">
              <a:lnSpc>
                <a:spcPts val="2000"/>
              </a:lnSpc>
            </a:pPr>
            <a:r>
              <a:rPr lang="en-US" sz="800">
                <a:solidFill>
                  <a:srgbClr val="0C6980"/>
                </a:solidFill>
                <a:latin typeface="Montserrat"/>
                <a:ea typeface="Montserrat"/>
                <a:cs typeface="Montserrat"/>
                <a:sym typeface="Montserrat"/>
              </a:rPr>
              <a:t>Và: Giỏ hàng không thay đổi.</a:t>
            </a:r>
          </a:p>
        </p:txBody>
      </p:sp>
      <p:sp>
        <p:nvSpPr>
          <p:cNvPr name="TextBox 7" id="7"/>
          <p:cNvSpPr txBox="true"/>
          <p:nvPr/>
        </p:nvSpPr>
        <p:spPr>
          <a:xfrm rot="0">
            <a:off x="3624654" y="1040060"/>
            <a:ext cx="3334951" cy="2512703"/>
          </a:xfrm>
          <a:prstGeom prst="rect">
            <a:avLst/>
          </a:prstGeom>
        </p:spPr>
        <p:txBody>
          <a:bodyPr anchor="t" rtlCol="false" tIns="0" lIns="0" bIns="0" rIns="0">
            <a:spAutoFit/>
          </a:bodyPr>
          <a:lstStyle/>
          <a:p>
            <a:pPr algn="l">
              <a:lnSpc>
                <a:spcPts val="2000"/>
              </a:lnSpc>
            </a:pPr>
            <a:r>
              <a:rPr lang="en-US" b="true" sz="800">
                <a:solidFill>
                  <a:srgbClr val="0C6980"/>
                </a:solidFill>
                <a:latin typeface="Montserrat Bold"/>
                <a:ea typeface="Montserrat Bold"/>
                <a:cs typeface="Montserrat Bold"/>
                <a:sym typeface="Montserrat Bold"/>
              </a:rPr>
              <a:t>Kịch bản 3: Số lượng mua vượt quá tồn kho</a:t>
            </a:r>
          </a:p>
          <a:p>
            <a:pPr algn="l">
              <a:lnSpc>
                <a:spcPts val="2000"/>
              </a:lnSpc>
            </a:pPr>
            <a:r>
              <a:rPr lang="en-US" sz="800">
                <a:solidFill>
                  <a:srgbClr val="0C6980"/>
                </a:solidFill>
                <a:latin typeface="Montserrat"/>
                <a:ea typeface="Montserrat"/>
                <a:cs typeface="Montserrat"/>
                <a:sym typeface="Montserrat"/>
              </a:rPr>
              <a:t>Cho phép: Sản phẩm có số lượng tồn kho = 5.</a:t>
            </a:r>
          </a:p>
          <a:p>
            <a:pPr algn="l">
              <a:lnSpc>
                <a:spcPts val="2000"/>
              </a:lnSpc>
            </a:pPr>
            <a:r>
              <a:rPr lang="en-US" sz="800">
                <a:solidFill>
                  <a:srgbClr val="0C6980"/>
                </a:solidFill>
                <a:latin typeface="Montserrat"/>
                <a:ea typeface="Montserrat"/>
                <a:cs typeface="Montserrat"/>
                <a:sym typeface="Montserrat"/>
              </a:rPr>
              <a:t>Khi: Người dùng nhập số lượng = 10 và nhấn "Thêm vào giỏ hàng".</a:t>
            </a:r>
          </a:p>
          <a:p>
            <a:pPr algn="l">
              <a:lnSpc>
                <a:spcPts val="2000"/>
              </a:lnSpc>
            </a:pPr>
            <a:r>
              <a:rPr lang="en-US" sz="800">
                <a:solidFill>
                  <a:srgbClr val="0C6980"/>
                </a:solidFill>
                <a:latin typeface="Montserrat"/>
                <a:ea typeface="Montserrat"/>
                <a:cs typeface="Montserrat"/>
                <a:sym typeface="Montserrat"/>
              </a:rPr>
              <a:t>Thì: Thông báo lỗi hiển thị "Chỉ còn 5 sản phẩm".</a:t>
            </a:r>
          </a:p>
          <a:p>
            <a:pPr algn="l">
              <a:lnSpc>
                <a:spcPts val="2000"/>
              </a:lnSpc>
            </a:pPr>
            <a:r>
              <a:rPr lang="en-US" sz="800">
                <a:solidFill>
                  <a:srgbClr val="0C6980"/>
                </a:solidFill>
                <a:latin typeface="Montserrat"/>
                <a:ea typeface="Montserrat"/>
                <a:cs typeface="Montserrat"/>
                <a:sym typeface="Montserrat"/>
              </a:rPr>
              <a:t>Và: Giỏ hàng không thay đổi.</a:t>
            </a:r>
          </a:p>
          <a:p>
            <a:pPr algn="l">
              <a:lnSpc>
                <a:spcPts val="2000"/>
              </a:lnSpc>
            </a:pPr>
            <a:r>
              <a:rPr lang="en-US" b="true" sz="800">
                <a:solidFill>
                  <a:srgbClr val="0C6980"/>
                </a:solidFill>
                <a:latin typeface="Montserrat Bold"/>
                <a:ea typeface="Montserrat Bold"/>
                <a:cs typeface="Montserrat Bold"/>
                <a:sym typeface="Montserrat Bold"/>
              </a:rPr>
              <a:t>Kịch bản 4: Thêm cùng một sản phẩm hai lần</a:t>
            </a:r>
          </a:p>
          <a:p>
            <a:pPr algn="l">
              <a:lnSpc>
                <a:spcPts val="2000"/>
              </a:lnSpc>
            </a:pPr>
            <a:r>
              <a:rPr lang="en-US" sz="800">
                <a:solidFill>
                  <a:srgbClr val="0C6980"/>
                </a:solidFill>
                <a:latin typeface="Montserrat"/>
                <a:ea typeface="Montserrat"/>
                <a:cs typeface="Montserrat"/>
                <a:sym typeface="Montserrat"/>
              </a:rPr>
              <a:t>Cho phép: Giỏ hàng đã có 1 sản phẩm A.</a:t>
            </a:r>
          </a:p>
          <a:p>
            <a:pPr algn="l">
              <a:lnSpc>
                <a:spcPts val="2000"/>
              </a:lnSpc>
            </a:pPr>
            <a:r>
              <a:rPr lang="en-US" sz="800">
                <a:solidFill>
                  <a:srgbClr val="0C6980"/>
                </a:solidFill>
                <a:latin typeface="Montserrat"/>
                <a:ea typeface="Montserrat"/>
                <a:cs typeface="Montserrat"/>
                <a:sym typeface="Montserrat"/>
              </a:rPr>
              <a:t>Khi: Người dùng thêm tiếp 1 sản phẩm A lần nữa.</a:t>
            </a:r>
          </a:p>
          <a:p>
            <a:pPr algn="l">
              <a:lnSpc>
                <a:spcPts val="2000"/>
              </a:lnSpc>
            </a:pPr>
            <a:r>
              <a:rPr lang="en-US" sz="800">
                <a:solidFill>
                  <a:srgbClr val="0C6980"/>
                </a:solidFill>
                <a:latin typeface="Montserrat"/>
                <a:ea typeface="Montserrat"/>
                <a:cs typeface="Montserrat"/>
                <a:sym typeface="Montserrat"/>
              </a:rPr>
              <a:t>Thì: Giỏ hàng hiển thị số lượng là 2 cho sản phẩm A.</a:t>
            </a:r>
          </a:p>
          <a:p>
            <a:pPr algn="l">
              <a:lnSpc>
                <a:spcPts val="2000"/>
              </a:lnSpc>
            </a:pPr>
            <a:r>
              <a:rPr lang="en-US" sz="800">
                <a:solidFill>
                  <a:srgbClr val="0C6980"/>
                </a:solidFill>
                <a:latin typeface="Montserrat"/>
                <a:ea typeface="Montserrat"/>
                <a:cs typeface="Montserrat"/>
                <a:sym typeface="Montserrat"/>
              </a:rPr>
              <a:t>Và: Tổng tiền được tính toán chính xác.</a:t>
            </a:r>
          </a:p>
        </p:txBody>
      </p:sp>
      <p:sp>
        <p:nvSpPr>
          <p:cNvPr name="TextBox 8" id="8"/>
          <p:cNvSpPr txBox="true"/>
          <p:nvPr/>
        </p:nvSpPr>
        <p:spPr>
          <a:xfrm rot="0">
            <a:off x="150797" y="750018"/>
            <a:ext cx="2949873"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Ví dụ chi tiết (dựa trên hệ thống Evershop):</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289692" y="972147"/>
          <a:ext cx="7429500" cy="2238375"/>
        </p:xfrm>
        <a:graphic>
          <a:graphicData uri="http://schemas.openxmlformats.org/presentationml/2006/ole">
            <p:oleObj imgW="8915400" imgH="3721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65876" y="390525"/>
            <a:ext cx="2949873" cy="157465"/>
          </a:xfrm>
          <a:prstGeom prst="rect">
            <a:avLst/>
          </a:prstGeom>
        </p:spPr>
        <p:txBody>
          <a:bodyPr anchor="t" rtlCol="false" tIns="0" lIns="0" bIns="0" rIns="0">
            <a:spAutoFit/>
          </a:bodyPr>
          <a:lstStyle/>
          <a:p>
            <a:pPr algn="ctr">
              <a:lnSpc>
                <a:spcPts val="1295"/>
              </a:lnSpc>
              <a:spcBef>
                <a:spcPct val="0"/>
              </a:spcBef>
            </a:pPr>
            <a:r>
              <a:rPr lang="en-US" b="true" sz="925">
                <a:solidFill>
                  <a:srgbClr val="0C6980"/>
                </a:solidFill>
                <a:latin typeface="Montserrat Bold"/>
                <a:ea typeface="Montserrat Bold"/>
                <a:cs typeface="Montserrat Bold"/>
                <a:sym typeface="Montserrat Bold"/>
              </a:rPr>
              <a:t>Ví dụ chi tiết (dựa trên hệ thống Evershop):</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9268" y="328973"/>
            <a:ext cx="3848205" cy="292120"/>
            <a:chOff x="0" y="0"/>
            <a:chExt cx="2545583" cy="193237"/>
          </a:xfrm>
        </p:grpSpPr>
        <p:sp>
          <p:nvSpPr>
            <p:cNvPr name="Freeform 3" id="3"/>
            <p:cNvSpPr/>
            <p:nvPr/>
          </p:nvSpPr>
          <p:spPr>
            <a:xfrm flipH="false" flipV="false" rot="0">
              <a:off x="0" y="0"/>
              <a:ext cx="2545583" cy="193237"/>
            </a:xfrm>
            <a:custGeom>
              <a:avLst/>
              <a:gdLst/>
              <a:ahLst/>
              <a:cxnLst/>
              <a:rect r="r" b="b" t="t" l="l"/>
              <a:pathLst>
                <a:path h="193237" w="2545583">
                  <a:moveTo>
                    <a:pt x="96618" y="0"/>
                  </a:moveTo>
                  <a:lnTo>
                    <a:pt x="2448964" y="0"/>
                  </a:lnTo>
                  <a:cubicBezTo>
                    <a:pt x="2474589" y="0"/>
                    <a:pt x="2499164" y="10179"/>
                    <a:pt x="2517284" y="28299"/>
                  </a:cubicBezTo>
                  <a:cubicBezTo>
                    <a:pt x="2535403" y="46418"/>
                    <a:pt x="2545583" y="70994"/>
                    <a:pt x="2545583" y="96618"/>
                  </a:cubicBezTo>
                  <a:lnTo>
                    <a:pt x="2545583" y="96618"/>
                  </a:lnTo>
                  <a:cubicBezTo>
                    <a:pt x="2545583" y="149979"/>
                    <a:pt x="2502325" y="193237"/>
                    <a:pt x="2448964"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545583" cy="221812"/>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1287828" y="1018253"/>
            <a:ext cx="1555570" cy="2860819"/>
          </a:xfrm>
          <a:custGeom>
            <a:avLst/>
            <a:gdLst/>
            <a:ahLst/>
            <a:cxnLst/>
            <a:rect r="r" b="b" t="t" l="l"/>
            <a:pathLst>
              <a:path h="2860819" w="1555570">
                <a:moveTo>
                  <a:pt x="0" y="0"/>
                </a:moveTo>
                <a:lnTo>
                  <a:pt x="1555570" y="0"/>
                </a:lnTo>
                <a:lnTo>
                  <a:pt x="1555570" y="2860818"/>
                </a:lnTo>
                <a:lnTo>
                  <a:pt x="0" y="2860818"/>
                </a:lnTo>
                <a:lnTo>
                  <a:pt x="0" y="0"/>
                </a:lnTo>
                <a:close/>
              </a:path>
            </a:pathLst>
          </a:custGeom>
          <a:blipFill>
            <a:blip r:embed="rId2"/>
            <a:stretch>
              <a:fillRect l="0" t="0" r="0" b="0"/>
            </a:stretch>
          </a:blipFill>
        </p:spPr>
      </p:sp>
      <p:sp>
        <p:nvSpPr>
          <p:cNvPr name="TextBox 6" id="6"/>
          <p:cNvSpPr txBox="true"/>
          <p:nvPr/>
        </p:nvSpPr>
        <p:spPr>
          <a:xfrm rot="0">
            <a:off x="370855" y="374251"/>
            <a:ext cx="3118082"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Kiểm Thử Nghiệp Vụ (Business Logic Testing)</a:t>
            </a:r>
          </a:p>
        </p:txBody>
      </p:sp>
      <p:sp>
        <p:nvSpPr>
          <p:cNvPr name="TextBox 7" id="7"/>
          <p:cNvSpPr txBox="true"/>
          <p:nvPr/>
        </p:nvSpPr>
        <p:spPr>
          <a:xfrm rot="0">
            <a:off x="3355223" y="951578"/>
            <a:ext cx="2701435" cy="2734597"/>
          </a:xfrm>
          <a:prstGeom prst="rect">
            <a:avLst/>
          </a:prstGeom>
        </p:spPr>
        <p:txBody>
          <a:bodyPr anchor="t" rtlCol="false" tIns="0" lIns="0" bIns="0" rIns="0">
            <a:spAutoFit/>
          </a:bodyPr>
          <a:lstStyle/>
          <a:p>
            <a:pPr algn="l">
              <a:lnSpc>
                <a:spcPts val="1716"/>
              </a:lnSpc>
            </a:pPr>
            <a:r>
              <a:rPr lang="en-US" b="true" sz="858">
                <a:solidFill>
                  <a:srgbClr val="0C6980"/>
                </a:solidFill>
                <a:latin typeface="Montserrat Bold"/>
                <a:ea typeface="Montserrat Bold"/>
                <a:cs typeface="Montserrat Bold"/>
                <a:sym typeface="Montserrat Bold"/>
              </a:rPr>
              <a:t>Quy Trình Kiểm Thử Nghiệp Vụ EverShop</a:t>
            </a:r>
          </a:p>
          <a:p>
            <a:pPr algn="l" marL="185267" indent="-92633" lvl="1">
              <a:lnSpc>
                <a:spcPts val="1716"/>
              </a:lnSpc>
              <a:buFont typeface="Arial"/>
              <a:buChar char="•"/>
            </a:pPr>
            <a:r>
              <a:rPr lang="en-US" sz="858">
                <a:solidFill>
                  <a:srgbClr val="0C6980"/>
                </a:solidFill>
                <a:latin typeface="Montserrat"/>
                <a:ea typeface="Montserrat"/>
                <a:cs typeface="Montserrat"/>
                <a:sym typeface="Montserrat"/>
              </a:rPr>
              <a:t>Admin Setup: Thiết lập Attributes, Categories, Products, Collections, Payment &amp; Shipping.</a:t>
            </a:r>
          </a:p>
          <a:p>
            <a:pPr algn="l" marL="185267" indent="-92633" lvl="1">
              <a:lnSpc>
                <a:spcPts val="1716"/>
              </a:lnSpc>
              <a:buFont typeface="Arial"/>
              <a:buChar char="•"/>
            </a:pPr>
            <a:r>
              <a:rPr lang="en-US" sz="858">
                <a:solidFill>
                  <a:srgbClr val="0C6980"/>
                </a:solidFill>
                <a:latin typeface="Montserrat"/>
                <a:ea typeface="Montserrat"/>
                <a:cs typeface="Montserrat"/>
                <a:sym typeface="Montserrat"/>
              </a:rPr>
              <a:t>User Journey: Duyệt sản phẩm, lọc Attributes, thêm giỏ hàng, checkout, thanh toán (COD/Bank/Card), theo dõi đơn hàng.</a:t>
            </a:r>
          </a:p>
          <a:p>
            <a:pPr algn="l" marL="185267" indent="-92633" lvl="1">
              <a:lnSpc>
                <a:spcPts val="1716"/>
              </a:lnSpc>
              <a:buFont typeface="Arial"/>
              <a:buChar char="•"/>
            </a:pPr>
            <a:r>
              <a:rPr lang="en-US" sz="858">
                <a:solidFill>
                  <a:srgbClr val="0C6980"/>
                </a:solidFill>
                <a:latin typeface="Montserrat"/>
                <a:ea typeface="Montserrat"/>
                <a:cs typeface="Montserrat"/>
                <a:sym typeface="Montserrat"/>
              </a:rPr>
              <a:t>Hoàn Trả/Hủy: Yêu cầu return, xác nhận, hoàn tiền.</a:t>
            </a:r>
          </a:p>
          <a:p>
            <a:pPr algn="l" marL="185267" indent="-92633" lvl="1">
              <a:lnSpc>
                <a:spcPts val="1716"/>
              </a:lnSpc>
              <a:buFont typeface="Arial"/>
              <a:buChar char="•"/>
            </a:pPr>
            <a:r>
              <a:rPr lang="en-US" sz="858">
                <a:solidFill>
                  <a:srgbClr val="0C6980"/>
                </a:solidFill>
                <a:latin typeface="Montserrat"/>
                <a:ea typeface="Montserrat"/>
                <a:cs typeface="Montserrat"/>
                <a:sym typeface="Montserrat"/>
              </a:rPr>
              <a:t>Trạng Thái: Từ Pending → Completed/Cancelled/Returned.</a:t>
            </a:r>
          </a:p>
          <a:p>
            <a:pPr algn="l" marL="185267" indent="-92633" lvl="1">
              <a:lnSpc>
                <a:spcPts val="1716"/>
              </a:lnSpc>
              <a:buFont typeface="Arial"/>
              <a:buChar char="•"/>
            </a:pPr>
            <a:r>
              <a:rPr lang="en-US" sz="858">
                <a:solidFill>
                  <a:srgbClr val="0C6980"/>
                </a:solidFill>
                <a:latin typeface="Montserrat"/>
                <a:ea typeface="Montserrat"/>
                <a:cs typeface="Montserrat"/>
                <a:sym typeface="Montserrat"/>
              </a:rPr>
              <a:t>Kiểm Thử: Đảm bảo luồng end-to-end, xử lý lỗi (thanh toán thất bại, giao muộn, sản phẩm hỏng).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69581" y="144275"/>
            <a:ext cx="3796424" cy="3807200"/>
          </a:xfrm>
          <a:custGeom>
            <a:avLst/>
            <a:gdLst/>
            <a:ahLst/>
            <a:cxnLst/>
            <a:rect r="r" b="b" t="t" l="l"/>
            <a:pathLst>
              <a:path h="3807200" w="3796424">
                <a:moveTo>
                  <a:pt x="0" y="0"/>
                </a:moveTo>
                <a:lnTo>
                  <a:pt x="3796424" y="0"/>
                </a:lnTo>
                <a:lnTo>
                  <a:pt x="3796424" y="3807200"/>
                </a:lnTo>
                <a:lnTo>
                  <a:pt x="0" y="3807200"/>
                </a:lnTo>
                <a:lnTo>
                  <a:pt x="0" y="0"/>
                </a:lnTo>
                <a:close/>
              </a:path>
            </a:pathLst>
          </a:custGeom>
          <a:blipFill>
            <a:blip r:embed="rId2"/>
            <a:stretch>
              <a:fillRect l="0" t="-80153" r="0" b="-3234"/>
            </a:stretch>
          </a:blipFill>
        </p:spPr>
      </p:sp>
      <p:sp>
        <p:nvSpPr>
          <p:cNvPr name="Freeform 3" id="3"/>
          <p:cNvSpPr/>
          <p:nvPr/>
        </p:nvSpPr>
        <p:spPr>
          <a:xfrm flipH="false" flipV="false" rot="0">
            <a:off x="0" y="206637"/>
            <a:ext cx="3712785" cy="3042658"/>
          </a:xfrm>
          <a:custGeom>
            <a:avLst/>
            <a:gdLst/>
            <a:ahLst/>
            <a:cxnLst/>
            <a:rect r="r" b="b" t="t" l="l"/>
            <a:pathLst>
              <a:path h="3042658" w="3712785">
                <a:moveTo>
                  <a:pt x="0" y="0"/>
                </a:moveTo>
                <a:lnTo>
                  <a:pt x="3712785" y="0"/>
                </a:lnTo>
                <a:lnTo>
                  <a:pt x="3712785" y="3042658"/>
                </a:lnTo>
                <a:lnTo>
                  <a:pt x="0" y="3042658"/>
                </a:lnTo>
                <a:lnTo>
                  <a:pt x="0" y="0"/>
                </a:lnTo>
                <a:close/>
              </a:path>
            </a:pathLst>
          </a:custGeom>
          <a:blipFill>
            <a:blip r:embed="rId2"/>
            <a:stretch>
              <a:fillRect l="0" t="0" r="0" b="-124412"/>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9268" y="328973"/>
            <a:ext cx="2242222" cy="292120"/>
            <a:chOff x="0" y="0"/>
            <a:chExt cx="1483227" cy="193237"/>
          </a:xfrm>
        </p:grpSpPr>
        <p:sp>
          <p:nvSpPr>
            <p:cNvPr name="Freeform 3" id="3"/>
            <p:cNvSpPr/>
            <p:nvPr/>
          </p:nvSpPr>
          <p:spPr>
            <a:xfrm flipH="false" flipV="false" rot="0">
              <a:off x="0" y="0"/>
              <a:ext cx="1483227" cy="193237"/>
            </a:xfrm>
            <a:custGeom>
              <a:avLst/>
              <a:gdLst/>
              <a:ahLst/>
              <a:cxnLst/>
              <a:rect r="r" b="b" t="t" l="l"/>
              <a:pathLst>
                <a:path h="193237" w="1483227">
                  <a:moveTo>
                    <a:pt x="96618" y="0"/>
                  </a:moveTo>
                  <a:lnTo>
                    <a:pt x="1386609" y="0"/>
                  </a:lnTo>
                  <a:cubicBezTo>
                    <a:pt x="1439969" y="0"/>
                    <a:pt x="1483227" y="43258"/>
                    <a:pt x="1483227" y="96618"/>
                  </a:cubicBezTo>
                  <a:lnTo>
                    <a:pt x="1483227" y="96618"/>
                  </a:lnTo>
                  <a:cubicBezTo>
                    <a:pt x="1483227" y="149979"/>
                    <a:pt x="1439969" y="193237"/>
                    <a:pt x="1386609"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1483227" cy="221812"/>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1508286" y="690109"/>
            <a:ext cx="1811803" cy="1561899"/>
          </a:xfrm>
          <a:custGeom>
            <a:avLst/>
            <a:gdLst/>
            <a:ahLst/>
            <a:cxnLst/>
            <a:rect r="r" b="b" t="t" l="l"/>
            <a:pathLst>
              <a:path h="1561899" w="1811803">
                <a:moveTo>
                  <a:pt x="0" y="0"/>
                </a:moveTo>
                <a:lnTo>
                  <a:pt x="1811802" y="0"/>
                </a:lnTo>
                <a:lnTo>
                  <a:pt x="1811802" y="1561899"/>
                </a:lnTo>
                <a:lnTo>
                  <a:pt x="0" y="1561899"/>
                </a:lnTo>
                <a:lnTo>
                  <a:pt x="0" y="0"/>
                </a:lnTo>
                <a:close/>
              </a:path>
            </a:pathLst>
          </a:custGeom>
          <a:blipFill>
            <a:blip r:embed="rId2"/>
            <a:stretch>
              <a:fillRect l="0" t="0" r="0" b="0"/>
            </a:stretch>
          </a:blipFill>
        </p:spPr>
      </p:sp>
      <p:sp>
        <p:nvSpPr>
          <p:cNvPr name="Freeform 6" id="6"/>
          <p:cNvSpPr/>
          <p:nvPr/>
        </p:nvSpPr>
        <p:spPr>
          <a:xfrm flipH="false" flipV="false" rot="0">
            <a:off x="3800514" y="1053112"/>
            <a:ext cx="1909160" cy="773539"/>
          </a:xfrm>
          <a:custGeom>
            <a:avLst/>
            <a:gdLst/>
            <a:ahLst/>
            <a:cxnLst/>
            <a:rect r="r" b="b" t="t" l="l"/>
            <a:pathLst>
              <a:path h="773539" w="1909160">
                <a:moveTo>
                  <a:pt x="0" y="0"/>
                </a:moveTo>
                <a:lnTo>
                  <a:pt x="1909159" y="0"/>
                </a:lnTo>
                <a:lnTo>
                  <a:pt x="1909159" y="773539"/>
                </a:lnTo>
                <a:lnTo>
                  <a:pt x="0" y="773539"/>
                </a:lnTo>
                <a:lnTo>
                  <a:pt x="0" y="0"/>
                </a:lnTo>
                <a:close/>
              </a:path>
            </a:pathLst>
          </a:custGeom>
          <a:blipFill>
            <a:blip r:embed="rId3"/>
            <a:stretch>
              <a:fillRect l="0" t="0" r="0" b="0"/>
            </a:stretch>
          </a:blipFill>
        </p:spPr>
      </p:sp>
      <p:sp>
        <p:nvSpPr>
          <p:cNvPr name="TextBox 7" id="7"/>
          <p:cNvSpPr txBox="true"/>
          <p:nvPr/>
        </p:nvSpPr>
        <p:spPr>
          <a:xfrm rot="0">
            <a:off x="370855" y="374251"/>
            <a:ext cx="1383922"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Kiểm thử tự động</a:t>
            </a:r>
          </a:p>
        </p:txBody>
      </p:sp>
      <p:sp>
        <p:nvSpPr>
          <p:cNvPr name="TextBox 8" id="8"/>
          <p:cNvSpPr txBox="true"/>
          <p:nvPr/>
        </p:nvSpPr>
        <p:spPr>
          <a:xfrm rot="0">
            <a:off x="657884" y="2185333"/>
            <a:ext cx="5610923" cy="1500842"/>
          </a:xfrm>
          <a:prstGeom prst="rect">
            <a:avLst/>
          </a:prstGeom>
        </p:spPr>
        <p:txBody>
          <a:bodyPr anchor="t" rtlCol="false" tIns="0" lIns="0" bIns="0" rIns="0">
            <a:spAutoFit/>
          </a:bodyPr>
          <a:lstStyle/>
          <a:p>
            <a:pPr algn="just">
              <a:lnSpc>
                <a:spcPts val="1762"/>
              </a:lnSpc>
            </a:pPr>
            <a:r>
              <a:rPr lang="en-US" b="true" sz="881">
                <a:solidFill>
                  <a:srgbClr val="0C6980"/>
                </a:solidFill>
                <a:latin typeface="Montserrat Bold"/>
                <a:ea typeface="Montserrat Bold"/>
                <a:cs typeface="Montserrat Bold"/>
                <a:sym typeface="Montserrat Bold"/>
              </a:rPr>
              <a:t>Jest là công cụ kiểm thử "hộp trắng"</a:t>
            </a:r>
            <a:r>
              <a:rPr lang="en-US" sz="881">
                <a:solidFill>
                  <a:srgbClr val="0C6980"/>
                </a:solidFill>
                <a:latin typeface="Montserrat"/>
                <a:ea typeface="Montserrat"/>
                <a:cs typeface="Montserrat"/>
                <a:sym typeface="Montserrat"/>
              </a:rPr>
              <a:t> chuyên dùng cho Unit và Integration Test. Nó chạy trên dòng lệnh với tốc độ cực nhanh, giúp lập trình viên xác minh chính xác các hàm logic, thuật toán và các module độc lập ngay trong quá trình viết code.</a:t>
            </a:r>
          </a:p>
          <a:p>
            <a:pPr algn="just">
              <a:lnSpc>
                <a:spcPts val="1762"/>
              </a:lnSpc>
            </a:pPr>
          </a:p>
          <a:p>
            <a:pPr algn="just">
              <a:lnSpc>
                <a:spcPts val="1762"/>
              </a:lnSpc>
            </a:pPr>
            <a:r>
              <a:rPr lang="en-US" b="true" sz="881">
                <a:solidFill>
                  <a:srgbClr val="0C6980"/>
                </a:solidFill>
                <a:latin typeface="Montserrat Bold"/>
                <a:ea typeface="Montserrat Bold"/>
                <a:cs typeface="Montserrat Bold"/>
                <a:sym typeface="Montserrat Bold"/>
              </a:rPr>
              <a:t>Cypress là công cụ kiểm thử "hộp đen"</a:t>
            </a:r>
            <a:r>
              <a:rPr lang="en-US" sz="881">
                <a:solidFill>
                  <a:srgbClr val="0C6980"/>
                </a:solidFill>
                <a:latin typeface="Montserrat"/>
                <a:ea typeface="Montserrat"/>
                <a:cs typeface="Montserrat"/>
                <a:sym typeface="Montserrat"/>
              </a:rPr>
              <a:t> chuyên dụng cho End-to-End Test. Nó mô phỏng hành động của người dùng thực ngay trên trình duyệt để kiểm tra toàn bộ luồng nghiệp vụ (như đặt hàng, thanh toán), giúp đảm bảo các thành phần giao diện và hệ thống phối hợp mượt mà.</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9268" y="328973"/>
            <a:ext cx="3410895" cy="292120"/>
            <a:chOff x="0" y="0"/>
            <a:chExt cx="2256303" cy="193237"/>
          </a:xfrm>
        </p:grpSpPr>
        <p:sp>
          <p:nvSpPr>
            <p:cNvPr name="Freeform 3" id="3"/>
            <p:cNvSpPr/>
            <p:nvPr/>
          </p:nvSpPr>
          <p:spPr>
            <a:xfrm flipH="false" flipV="false" rot="0">
              <a:off x="0" y="0"/>
              <a:ext cx="2256303" cy="193237"/>
            </a:xfrm>
            <a:custGeom>
              <a:avLst/>
              <a:gdLst/>
              <a:ahLst/>
              <a:cxnLst/>
              <a:rect r="r" b="b" t="t" l="l"/>
              <a:pathLst>
                <a:path h="193237" w="2256303">
                  <a:moveTo>
                    <a:pt x="96618" y="0"/>
                  </a:moveTo>
                  <a:lnTo>
                    <a:pt x="2159684" y="0"/>
                  </a:lnTo>
                  <a:cubicBezTo>
                    <a:pt x="2213045" y="0"/>
                    <a:pt x="2256303" y="43258"/>
                    <a:pt x="2256303" y="96618"/>
                  </a:cubicBezTo>
                  <a:lnTo>
                    <a:pt x="2256303" y="96618"/>
                  </a:lnTo>
                  <a:cubicBezTo>
                    <a:pt x="2256303" y="149979"/>
                    <a:pt x="2213045" y="193237"/>
                    <a:pt x="2159684" y="193237"/>
                  </a:cubicBezTo>
                  <a:lnTo>
                    <a:pt x="96618" y="193237"/>
                  </a:lnTo>
                  <a:cubicBezTo>
                    <a:pt x="43258" y="193237"/>
                    <a:pt x="0" y="149979"/>
                    <a:pt x="0" y="96618"/>
                  </a:cubicBezTo>
                  <a:lnTo>
                    <a:pt x="0" y="96618"/>
                  </a:lnTo>
                  <a:cubicBezTo>
                    <a:pt x="0" y="43258"/>
                    <a:pt x="43258" y="0"/>
                    <a:pt x="96618" y="0"/>
                  </a:cubicBezTo>
                  <a:close/>
                </a:path>
              </a:pathLst>
            </a:custGeom>
            <a:solidFill>
              <a:srgbClr val="0C6980"/>
            </a:solidFill>
          </p:spPr>
        </p:sp>
        <p:sp>
          <p:nvSpPr>
            <p:cNvPr name="TextBox 4" id="4"/>
            <p:cNvSpPr txBox="true"/>
            <p:nvPr/>
          </p:nvSpPr>
          <p:spPr>
            <a:xfrm>
              <a:off x="0" y="-28575"/>
              <a:ext cx="2256303" cy="221812"/>
            </a:xfrm>
            <a:prstGeom prst="rect">
              <a:avLst/>
            </a:prstGeom>
          </p:spPr>
          <p:txBody>
            <a:bodyPr anchor="ctr" rtlCol="false" tIns="50800" lIns="50800" bIns="50800" rIns="50800"/>
            <a:lstStyle/>
            <a:p>
              <a:pPr algn="ctr">
                <a:lnSpc>
                  <a:spcPts val="1182"/>
                </a:lnSpc>
              </a:pPr>
            </a:p>
          </p:txBody>
        </p:sp>
      </p:grpSp>
      <p:graphicFrame>
        <p:nvGraphicFramePr>
          <p:cNvPr name="Object 5" id="5"/>
          <p:cNvGraphicFramePr/>
          <p:nvPr/>
        </p:nvGraphicFramePr>
        <p:xfrm>
          <a:off x="1287965" y="803311"/>
          <a:ext cx="6324600" cy="3093979"/>
        </p:xfrm>
        <a:graphic>
          <a:graphicData uri="http://schemas.openxmlformats.org/presentationml/2006/ole">
            <p:oleObj imgW="7581900" imgH="4356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370855" y="374251"/>
            <a:ext cx="2424418" cy="319390"/>
          </a:xfrm>
          <a:prstGeom prst="rect">
            <a:avLst/>
          </a:prstGeom>
        </p:spPr>
        <p:txBody>
          <a:bodyPr anchor="t" rtlCol="false" tIns="0" lIns="0" bIns="0" rIns="0">
            <a:spAutoFit/>
          </a:bodyPr>
          <a:lstStyle/>
          <a:p>
            <a:pPr algn="ctr">
              <a:lnSpc>
                <a:spcPts val="1295"/>
              </a:lnSpc>
            </a:pPr>
            <a:r>
              <a:rPr lang="en-US" sz="925" b="true">
                <a:solidFill>
                  <a:srgbClr val="FFFFFF"/>
                </a:solidFill>
                <a:latin typeface="Montserrat Bold"/>
                <a:ea typeface="Montserrat Bold"/>
                <a:cs typeface="Montserrat Bold"/>
                <a:sym typeface="Montserrat Bold"/>
              </a:rPr>
              <a:t>Kiểm Thử Đơn Vị (Unit Testing) &amp; Lưu Ý</a:t>
            </a:r>
          </a:p>
          <a:p>
            <a:pPr algn="ctr">
              <a:lnSpc>
                <a:spcPts val="1295"/>
              </a:lnSpc>
            </a:pP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88891" y="220473"/>
            <a:ext cx="5731844"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Kết quả đạt được</a:t>
            </a:r>
          </a:p>
        </p:txBody>
      </p:sp>
      <p:sp>
        <p:nvSpPr>
          <p:cNvPr name="TextBox 3" id="3"/>
          <p:cNvSpPr txBox="true"/>
          <p:nvPr/>
        </p:nvSpPr>
        <p:spPr>
          <a:xfrm rot="0">
            <a:off x="551528" y="626173"/>
            <a:ext cx="6206569" cy="535940"/>
          </a:xfrm>
          <a:prstGeom prst="rect">
            <a:avLst/>
          </a:prstGeom>
        </p:spPr>
        <p:txBody>
          <a:bodyPr anchor="t" rtlCol="false" tIns="0" lIns="0" bIns="0" rIns="0">
            <a:spAutoFit/>
          </a:bodyPr>
          <a:lstStyle/>
          <a:p>
            <a:pPr algn="just">
              <a:lnSpc>
                <a:spcPts val="2200"/>
              </a:lnSpc>
            </a:pPr>
            <a:r>
              <a:rPr lang="en-US" sz="1100">
                <a:solidFill>
                  <a:srgbClr val="0C6980"/>
                </a:solidFill>
                <a:latin typeface="Montserrat"/>
                <a:ea typeface="Montserrat"/>
                <a:cs typeface="Montserrat"/>
                <a:sym typeface="Montserrat"/>
              </a:rPr>
              <a:t>Hiện tại nhóm tiến hành kiểm thử chính trên module </a:t>
            </a:r>
            <a:r>
              <a:rPr lang="en-US" b="true" sz="1100">
                <a:solidFill>
                  <a:srgbClr val="0C6980"/>
                </a:solidFill>
                <a:latin typeface="Montserrat Bold"/>
                <a:ea typeface="Montserrat Bold"/>
                <a:cs typeface="Montserrat Bold"/>
                <a:sym typeface="Montserrat Bold"/>
              </a:rPr>
              <a:t>Authentication</a:t>
            </a:r>
            <a:r>
              <a:rPr lang="en-US" sz="1100">
                <a:solidFill>
                  <a:srgbClr val="0C6980"/>
                </a:solidFill>
                <a:latin typeface="Montserrat"/>
                <a:ea typeface="Montserrat"/>
                <a:cs typeface="Montserrat"/>
                <a:sym typeface="Montserrat"/>
              </a:rPr>
              <a:t> (bao gồm unit, intergration và e2e)</a:t>
            </a:r>
          </a:p>
        </p:txBody>
      </p:sp>
      <p:sp>
        <p:nvSpPr>
          <p:cNvPr name="TextBox 4" id="4"/>
          <p:cNvSpPr txBox="true"/>
          <p:nvPr/>
        </p:nvSpPr>
        <p:spPr>
          <a:xfrm rot="0">
            <a:off x="551528" y="1395928"/>
            <a:ext cx="6027213" cy="2096135"/>
          </a:xfrm>
          <a:prstGeom prst="rect">
            <a:avLst/>
          </a:prstGeom>
        </p:spPr>
        <p:txBody>
          <a:bodyPr anchor="t" rtlCol="false" tIns="0" lIns="0" bIns="0" rIns="0">
            <a:spAutoFit/>
          </a:bodyPr>
          <a:lstStyle/>
          <a:p>
            <a:pPr algn="just">
              <a:lnSpc>
                <a:spcPts val="1540"/>
              </a:lnSpc>
              <a:spcBef>
                <a:spcPct val="0"/>
              </a:spcBef>
            </a:pPr>
            <a:r>
              <a:rPr lang="en-US" b="true" sz="1100">
                <a:solidFill>
                  <a:srgbClr val="0C6980"/>
                </a:solidFill>
                <a:latin typeface="Montserrat Bold"/>
                <a:ea typeface="Montserrat Bold"/>
                <a:cs typeface="Montserrat Bold"/>
                <a:sym typeface="Montserrat Bold"/>
              </a:rPr>
              <a:t>Mô tả:</a:t>
            </a:r>
            <a:r>
              <a:rPr lang="en-US" sz="1100">
                <a:solidFill>
                  <a:srgbClr val="0C6980"/>
                </a:solidFill>
                <a:latin typeface="Montserrat"/>
                <a:ea typeface="Montserrat"/>
                <a:cs typeface="Montserrat"/>
                <a:sym typeface="Montserrat"/>
              </a:rPr>
              <a:t> Báo cáo tổng hợp kết quả kiểm thử cho module Authentication, bao gồm kiểm thử End-to-End (E2E) sử dụng Cypress và kiểm thử Unit/Integration. Dữ liệu dựa trên hai báo cáo riêng lẻ:</a:t>
            </a:r>
          </a:p>
          <a:p>
            <a:pPr algn="just">
              <a:lnSpc>
                <a:spcPts val="1540"/>
              </a:lnSpc>
              <a:spcBef>
                <a:spcPct val="0"/>
              </a:spcBef>
            </a:pPr>
            <a:r>
              <a:rPr lang="en-US" sz="1100">
                <a:solidFill>
                  <a:srgbClr val="0C6980"/>
                </a:solidFill>
                <a:latin typeface="Montserrat"/>
                <a:ea typeface="Montserrat"/>
                <a:cs typeface="Montserrat"/>
                <a:sym typeface="Montserrat"/>
              </a:rPr>
              <a:t>Báo cáo E2E: 222 test cases</a:t>
            </a:r>
          </a:p>
          <a:p>
            <a:pPr algn="just">
              <a:lnSpc>
                <a:spcPts val="1540"/>
              </a:lnSpc>
              <a:spcBef>
                <a:spcPct val="0"/>
              </a:spcBef>
            </a:pPr>
          </a:p>
          <a:p>
            <a:pPr algn="just">
              <a:lnSpc>
                <a:spcPts val="1540"/>
              </a:lnSpc>
              <a:spcBef>
                <a:spcPct val="0"/>
              </a:spcBef>
            </a:pPr>
            <a:r>
              <a:rPr lang="en-US" b="true" sz="1100">
                <a:solidFill>
                  <a:srgbClr val="0C6980"/>
                </a:solidFill>
                <a:latin typeface="Montserrat Bold"/>
                <a:ea typeface="Montserrat Bold"/>
                <a:cs typeface="Montserrat Bold"/>
                <a:sym typeface="Montserrat Bold"/>
              </a:rPr>
              <a:t>Báo cáo Unit: </a:t>
            </a:r>
            <a:r>
              <a:rPr lang="en-US" sz="1100">
                <a:solidFill>
                  <a:srgbClr val="0C6980"/>
                </a:solidFill>
                <a:latin typeface="Montserrat"/>
                <a:ea typeface="Montserrat"/>
                <a:cs typeface="Montserrat"/>
                <a:sym typeface="Montserrat"/>
              </a:rPr>
              <a:t>105 test cases, tập trung vào các hàm cấu hình session và store.</a:t>
            </a:r>
          </a:p>
          <a:p>
            <a:pPr algn="just">
              <a:lnSpc>
                <a:spcPts val="1540"/>
              </a:lnSpc>
              <a:spcBef>
                <a:spcPct val="0"/>
              </a:spcBef>
            </a:pPr>
            <a:r>
              <a:rPr lang="en-US" sz="1100">
                <a:solidFill>
                  <a:srgbClr val="0C6980"/>
                </a:solidFill>
                <a:latin typeface="Montserrat"/>
                <a:ea typeface="Montserrat"/>
                <a:cs typeface="Montserrat"/>
                <a:sym typeface="Montserrat"/>
              </a:rPr>
              <a:t>Tổng quan: Module Authentication có tỷ lệ thành công trung bình khoảng 84% (kết hợp E2E và Unit), nhưng tồn tại các vấn đề nghiêm trọng về bảo mật, access control và mock dependency trong unit tests. Phạm vi kiểm thử (coverage) đạt 100% ở unit, nhưng không đảm bảo tính chính xác logic. Cần khắc phục ưu tiên các vấn đề bảo mật và session management.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3971" y="975089"/>
            <a:ext cx="4270093" cy="2401927"/>
          </a:xfrm>
          <a:custGeom>
            <a:avLst/>
            <a:gdLst/>
            <a:ahLst/>
            <a:cxnLst/>
            <a:rect r="r" b="b" t="t" l="l"/>
            <a:pathLst>
              <a:path h="2401927" w="4270093">
                <a:moveTo>
                  <a:pt x="0" y="0"/>
                </a:moveTo>
                <a:lnTo>
                  <a:pt x="4270092" y="0"/>
                </a:lnTo>
                <a:lnTo>
                  <a:pt x="4270092" y="2401927"/>
                </a:lnTo>
                <a:lnTo>
                  <a:pt x="0" y="2401927"/>
                </a:lnTo>
                <a:lnTo>
                  <a:pt x="0" y="0"/>
                </a:lnTo>
                <a:close/>
              </a:path>
            </a:pathLst>
          </a:custGeom>
          <a:blipFill>
            <a:blip r:embed="rId2"/>
            <a:stretch>
              <a:fillRect l="0" t="0" r="0" b="0"/>
            </a:stretch>
          </a:blipFill>
        </p:spPr>
      </p:sp>
      <p:sp>
        <p:nvSpPr>
          <p:cNvPr name="Freeform 3" id="3"/>
          <p:cNvSpPr/>
          <p:nvPr/>
        </p:nvSpPr>
        <p:spPr>
          <a:xfrm flipH="false" flipV="false" rot="0">
            <a:off x="2478600" y="164954"/>
            <a:ext cx="794005" cy="684487"/>
          </a:xfrm>
          <a:custGeom>
            <a:avLst/>
            <a:gdLst/>
            <a:ahLst/>
            <a:cxnLst/>
            <a:rect r="r" b="b" t="t" l="l"/>
            <a:pathLst>
              <a:path h="684487" w="794005">
                <a:moveTo>
                  <a:pt x="0" y="0"/>
                </a:moveTo>
                <a:lnTo>
                  <a:pt x="794005" y="0"/>
                </a:lnTo>
                <a:lnTo>
                  <a:pt x="794005" y="684487"/>
                </a:lnTo>
                <a:lnTo>
                  <a:pt x="0" y="684487"/>
                </a:lnTo>
                <a:lnTo>
                  <a:pt x="0" y="0"/>
                </a:lnTo>
                <a:close/>
              </a:path>
            </a:pathLst>
          </a:custGeom>
          <a:blipFill>
            <a:blip r:embed="rId3"/>
            <a:stretch>
              <a:fillRect l="0" t="0" r="0" b="0"/>
            </a:stretch>
          </a:blipFill>
        </p:spPr>
      </p:sp>
      <p:grpSp>
        <p:nvGrpSpPr>
          <p:cNvPr name="Group 4" id="4"/>
          <p:cNvGrpSpPr/>
          <p:nvPr/>
        </p:nvGrpSpPr>
        <p:grpSpPr>
          <a:xfrm rot="0">
            <a:off x="-359268" y="393301"/>
            <a:ext cx="2837868" cy="227791"/>
            <a:chOff x="0" y="0"/>
            <a:chExt cx="1877246" cy="150684"/>
          </a:xfrm>
        </p:grpSpPr>
        <p:sp>
          <p:nvSpPr>
            <p:cNvPr name="Freeform 5" id="5"/>
            <p:cNvSpPr/>
            <p:nvPr/>
          </p:nvSpPr>
          <p:spPr>
            <a:xfrm flipH="false" flipV="false" rot="0">
              <a:off x="0" y="0"/>
              <a:ext cx="1877246" cy="150684"/>
            </a:xfrm>
            <a:custGeom>
              <a:avLst/>
              <a:gdLst/>
              <a:ahLst/>
              <a:cxnLst/>
              <a:rect r="r" b="b" t="t" l="l"/>
              <a:pathLst>
                <a:path h="150684" w="1877246">
                  <a:moveTo>
                    <a:pt x="75342" y="0"/>
                  </a:moveTo>
                  <a:lnTo>
                    <a:pt x="1801904" y="0"/>
                  </a:lnTo>
                  <a:cubicBezTo>
                    <a:pt x="1821886" y="0"/>
                    <a:pt x="1841050" y="7938"/>
                    <a:pt x="1855179" y="22067"/>
                  </a:cubicBezTo>
                  <a:cubicBezTo>
                    <a:pt x="1869309" y="36196"/>
                    <a:pt x="1877246" y="55360"/>
                    <a:pt x="1877246" y="75342"/>
                  </a:cubicBezTo>
                  <a:lnTo>
                    <a:pt x="1877246" y="75342"/>
                  </a:lnTo>
                  <a:cubicBezTo>
                    <a:pt x="1877246" y="116952"/>
                    <a:pt x="1843515" y="150684"/>
                    <a:pt x="1801904" y="150684"/>
                  </a:cubicBezTo>
                  <a:lnTo>
                    <a:pt x="75342" y="150684"/>
                  </a:lnTo>
                  <a:cubicBezTo>
                    <a:pt x="55360" y="150684"/>
                    <a:pt x="36196" y="142746"/>
                    <a:pt x="22067" y="128617"/>
                  </a:cubicBezTo>
                  <a:cubicBezTo>
                    <a:pt x="7938" y="114487"/>
                    <a:pt x="0" y="95324"/>
                    <a:pt x="0" y="75342"/>
                  </a:cubicBezTo>
                  <a:lnTo>
                    <a:pt x="0" y="75342"/>
                  </a:lnTo>
                  <a:cubicBezTo>
                    <a:pt x="0" y="55360"/>
                    <a:pt x="7938" y="36196"/>
                    <a:pt x="22067" y="22067"/>
                  </a:cubicBezTo>
                  <a:cubicBezTo>
                    <a:pt x="36196" y="7938"/>
                    <a:pt x="55360" y="0"/>
                    <a:pt x="75342" y="0"/>
                  </a:cubicBezTo>
                  <a:close/>
                </a:path>
              </a:pathLst>
            </a:custGeom>
            <a:solidFill>
              <a:srgbClr val="0C6980"/>
            </a:solidFill>
          </p:spPr>
        </p:sp>
        <p:sp>
          <p:nvSpPr>
            <p:cNvPr name="TextBox 6" id="6"/>
            <p:cNvSpPr txBox="true"/>
            <p:nvPr/>
          </p:nvSpPr>
          <p:spPr>
            <a:xfrm>
              <a:off x="0" y="-28575"/>
              <a:ext cx="1877246" cy="179259"/>
            </a:xfrm>
            <a:prstGeom prst="rect">
              <a:avLst/>
            </a:prstGeom>
          </p:spPr>
          <p:txBody>
            <a:bodyPr anchor="ctr" rtlCol="false" tIns="50800" lIns="50800" bIns="50800" rIns="50800"/>
            <a:lstStyle/>
            <a:p>
              <a:pPr algn="ctr">
                <a:lnSpc>
                  <a:spcPts val="1182"/>
                </a:lnSpc>
              </a:pPr>
            </a:p>
          </p:txBody>
        </p:sp>
      </p:grpSp>
      <p:sp>
        <p:nvSpPr>
          <p:cNvPr name="TextBox 7" id="7"/>
          <p:cNvSpPr txBox="true"/>
          <p:nvPr/>
        </p:nvSpPr>
        <p:spPr>
          <a:xfrm rot="0">
            <a:off x="133971" y="418940"/>
            <a:ext cx="2424418"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Unit và intergration testing</a:t>
            </a:r>
          </a:p>
        </p:txBody>
      </p:sp>
      <p:sp>
        <p:nvSpPr>
          <p:cNvPr name="TextBox 8" id="8"/>
          <p:cNvSpPr txBox="true"/>
          <p:nvPr/>
        </p:nvSpPr>
        <p:spPr>
          <a:xfrm rot="0">
            <a:off x="4630027" y="880257"/>
            <a:ext cx="2156927" cy="2496759"/>
          </a:xfrm>
          <a:prstGeom prst="rect">
            <a:avLst/>
          </a:prstGeom>
        </p:spPr>
        <p:txBody>
          <a:bodyPr anchor="t" rtlCol="false" tIns="0" lIns="0" bIns="0" rIns="0">
            <a:spAutoFit/>
          </a:bodyPr>
          <a:lstStyle/>
          <a:p>
            <a:pPr algn="just">
              <a:lnSpc>
                <a:spcPts val="1851"/>
              </a:lnSpc>
            </a:pPr>
            <a:r>
              <a:rPr lang="en-US" b="true" sz="925">
                <a:solidFill>
                  <a:srgbClr val="0C6980"/>
                </a:solidFill>
                <a:latin typeface="Montserrat Bold"/>
                <a:ea typeface="Montserrat Bold"/>
                <a:cs typeface="Montserrat Bold"/>
                <a:sym typeface="Montserrat Bold"/>
              </a:rPr>
              <a:t>Mục đích tổng quát: </a:t>
            </a:r>
          </a:p>
          <a:p>
            <a:pPr algn="just">
              <a:lnSpc>
                <a:spcPts val="1851"/>
              </a:lnSpc>
            </a:pPr>
            <a:r>
              <a:rPr lang="en-US" sz="925">
                <a:solidFill>
                  <a:srgbClr val="0C6980"/>
                </a:solidFill>
                <a:latin typeface="Montserrat"/>
                <a:ea typeface="Montserrat"/>
                <a:cs typeface="Montserrat"/>
                <a:sym typeface="Montserrat"/>
              </a:rPr>
              <a:t>Kiểm thử các hàm cốt lõi như session config, store creation, resave/saveUninitialized</a:t>
            </a:r>
          </a:p>
          <a:p>
            <a:pPr algn="just">
              <a:lnSpc>
                <a:spcPts val="1851"/>
              </a:lnSpc>
            </a:pPr>
          </a:p>
          <a:p>
            <a:pPr algn="just">
              <a:lnSpc>
                <a:spcPts val="1851"/>
              </a:lnSpc>
            </a:pPr>
            <a:r>
              <a:rPr lang="en-US" b="true" sz="925">
                <a:solidFill>
                  <a:srgbClr val="0C6980"/>
                </a:solidFill>
                <a:latin typeface="Montserrat Bold"/>
                <a:ea typeface="Montserrat Bold"/>
                <a:cs typeface="Montserrat Bold"/>
                <a:sym typeface="Montserrat Bold"/>
              </a:rPr>
              <a:t>Tóm Tắt Kết Quả:</a:t>
            </a:r>
          </a:p>
          <a:p>
            <a:pPr algn="just" marL="199838" indent="-99919" lvl="1">
              <a:lnSpc>
                <a:spcPts val="1851"/>
              </a:lnSpc>
              <a:buFont typeface="Arial"/>
              <a:buChar char="•"/>
            </a:pPr>
            <a:r>
              <a:rPr lang="en-US" sz="925">
                <a:solidFill>
                  <a:srgbClr val="0C6980"/>
                </a:solidFill>
                <a:latin typeface="Montserrat"/>
                <a:ea typeface="Montserrat"/>
                <a:cs typeface="Montserrat"/>
                <a:sym typeface="Montserrat"/>
              </a:rPr>
              <a:t>Test Suites: 1 thất bại, 9 thành công (10 tổng).</a:t>
            </a:r>
          </a:p>
          <a:p>
            <a:pPr algn="just" marL="199838" indent="-99919" lvl="1">
              <a:lnSpc>
                <a:spcPts val="1851"/>
              </a:lnSpc>
              <a:buFont typeface="Arial"/>
              <a:buChar char="•"/>
            </a:pPr>
            <a:r>
              <a:rPr lang="en-US" sz="925">
                <a:solidFill>
                  <a:srgbClr val="0C6980"/>
                </a:solidFill>
                <a:latin typeface="Montserrat"/>
                <a:ea typeface="Montserrat"/>
                <a:cs typeface="Montserrat"/>
                <a:sym typeface="Montserrat"/>
              </a:rPr>
              <a:t>Tests: 12 thất bại, 93 thành công.</a:t>
            </a:r>
          </a:p>
          <a:p>
            <a:pPr algn="just" marL="199838" indent="-99919" lvl="1">
              <a:lnSpc>
                <a:spcPts val="1851"/>
              </a:lnSpc>
              <a:buFont typeface="Arial"/>
              <a:buChar char="•"/>
            </a:pPr>
            <a:r>
              <a:rPr lang="en-US" sz="925">
                <a:solidFill>
                  <a:srgbClr val="0C6980"/>
                </a:solidFill>
                <a:latin typeface="Montserrat"/>
                <a:ea typeface="Montserrat"/>
                <a:cs typeface="Montserrat"/>
                <a:sym typeface="Montserrat"/>
              </a:rPr>
              <a:t>Coverage: 100% (Statements, Branches, Functions, Lines).</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9188" y="647096"/>
            <a:ext cx="6185374" cy="2725359"/>
          </a:xfrm>
          <a:prstGeom prst="rect">
            <a:avLst/>
          </a:prstGeom>
        </p:spPr>
        <p:txBody>
          <a:bodyPr anchor="t" rtlCol="false" tIns="0" lIns="0" bIns="0" rIns="0">
            <a:spAutoFit/>
          </a:bodyPr>
          <a:lstStyle/>
          <a:p>
            <a:pPr algn="l">
              <a:lnSpc>
                <a:spcPts val="1851"/>
              </a:lnSpc>
            </a:pPr>
            <a:r>
              <a:rPr lang="en-US" b="true" sz="925">
                <a:solidFill>
                  <a:srgbClr val="0C6980"/>
                </a:solidFill>
                <a:latin typeface="Montserrat Bold"/>
                <a:ea typeface="Montserrat Bold"/>
                <a:cs typeface="Montserrat Bold"/>
                <a:sym typeface="Montserrat Bold"/>
              </a:rPr>
              <a:t>Nhóm Kiểm Thử Thất Bại</a:t>
            </a:r>
          </a:p>
          <a:p>
            <a:pPr algn="l" marL="199838" indent="-99919" lvl="1">
              <a:lnSpc>
                <a:spcPts val="1851"/>
              </a:lnSpc>
              <a:buFont typeface="Arial"/>
              <a:buChar char="•"/>
            </a:pPr>
            <a:r>
              <a:rPr lang="en-US" sz="925">
                <a:solidFill>
                  <a:srgbClr val="0C6980"/>
                </a:solidFill>
                <a:latin typeface="Montserrat"/>
                <a:ea typeface="Montserrat"/>
                <a:cs typeface="Montserrat"/>
                <a:sym typeface="Montserrat"/>
              </a:rPr>
              <a:t>Tạo SessionStorage Store (2 fails): Store trả về PGStore thay vì Mock; pool không truyền đúng.</a:t>
            </a:r>
          </a:p>
          <a:p>
            <a:pPr algn="l" marL="199838" indent="-99919" lvl="1">
              <a:lnSpc>
                <a:spcPts val="1851"/>
              </a:lnSpc>
              <a:buFont typeface="Arial"/>
              <a:buChar char="•"/>
            </a:pPr>
            <a:r>
              <a:rPr lang="en-US" sz="925">
                <a:solidFill>
                  <a:srgbClr val="0C6980"/>
                </a:solidFill>
                <a:latin typeface="Montserrat"/>
                <a:ea typeface="Montserrat"/>
                <a:cs typeface="Montserrat"/>
                <a:sym typeface="Montserrat"/>
              </a:rPr>
              <a:t>Cấu Hình resave (3 fails): Không gọi mock getConfig; resave luôn false thay vì true/false theo config.</a:t>
            </a:r>
          </a:p>
          <a:p>
            <a:pPr algn="l" marL="199838" indent="-99919" lvl="1">
              <a:lnSpc>
                <a:spcPts val="1851"/>
              </a:lnSpc>
              <a:buFont typeface="Arial"/>
              <a:buChar char="•"/>
            </a:pPr>
            <a:r>
              <a:rPr lang="en-US" sz="925">
                <a:solidFill>
                  <a:srgbClr val="0C6980"/>
                </a:solidFill>
                <a:latin typeface="Montserrat"/>
                <a:ea typeface="Montserrat"/>
                <a:cs typeface="Montserrat"/>
                <a:sym typeface="Montserrat"/>
              </a:rPr>
              <a:t>Cấu Hình saveUninitialized (3 fails): Tương tự resave, mock không gọi, giá trị sai.</a:t>
            </a:r>
          </a:p>
          <a:p>
            <a:pPr algn="l" marL="199838" indent="-99919" lvl="1">
              <a:lnSpc>
                <a:spcPts val="1851"/>
              </a:lnSpc>
              <a:buFont typeface="Arial"/>
              <a:buChar char="•"/>
            </a:pPr>
            <a:r>
              <a:rPr lang="en-US" sz="925">
                <a:solidFill>
                  <a:srgbClr val="0C6980"/>
                </a:solidFill>
                <a:latin typeface="Montserrat"/>
                <a:ea typeface="Montserrat"/>
                <a:cs typeface="Montserrat"/>
                <a:sym typeface="Montserrat"/>
              </a:rPr>
              <a:t>Xác Minh Gọi Mock (4 fails): getConfig không gọi đúng (0 calls thay vì 2), dẫn đến dependency injection lỗi.</a:t>
            </a:r>
          </a:p>
          <a:p>
            <a:pPr algn="l">
              <a:lnSpc>
                <a:spcPts val="1851"/>
              </a:lnSpc>
            </a:pPr>
          </a:p>
          <a:p>
            <a:pPr algn="l">
              <a:lnSpc>
                <a:spcPts val="1851"/>
              </a:lnSpc>
            </a:pPr>
            <a:r>
              <a:rPr lang="en-US" b="true" sz="925">
                <a:solidFill>
                  <a:srgbClr val="0C6980"/>
                </a:solidFill>
                <a:latin typeface="Montserrat Bold"/>
                <a:ea typeface="Montserrat Bold"/>
                <a:cs typeface="Montserrat Bold"/>
                <a:sym typeface="Montserrat Bold"/>
              </a:rPr>
              <a:t>Vấn Đề Chính Từ Unit</a:t>
            </a:r>
          </a:p>
          <a:p>
            <a:pPr algn="l" marL="199838" indent="-99919" lvl="1">
              <a:lnSpc>
                <a:spcPts val="1851"/>
              </a:lnSpc>
              <a:buFont typeface="Arial"/>
              <a:buChar char="•"/>
            </a:pPr>
            <a:r>
              <a:rPr lang="en-US" sz="925">
                <a:solidFill>
                  <a:srgbClr val="0C6980"/>
                </a:solidFill>
                <a:latin typeface="Montserrat"/>
                <a:ea typeface="Montserrat"/>
                <a:cs typeface="Montserrat"/>
                <a:sym typeface="Montserrat"/>
              </a:rPr>
              <a:t>Mock Issues: getConfig không gọi từ hàm chính, sử dụng implementation thực tế thay vì mock.</a:t>
            </a:r>
          </a:p>
          <a:p>
            <a:pPr algn="l" marL="199838" indent="-99919" lvl="1">
              <a:lnSpc>
                <a:spcPts val="1851"/>
              </a:lnSpc>
              <a:buFont typeface="Arial"/>
              <a:buChar char="•"/>
            </a:pPr>
            <a:r>
              <a:rPr lang="en-US" sz="925">
                <a:solidFill>
                  <a:srgbClr val="0C6980"/>
                </a:solidFill>
                <a:latin typeface="Montserrat"/>
                <a:ea typeface="Montserrat"/>
                <a:cs typeface="Montserrat"/>
                <a:sym typeface="Montserrat"/>
              </a:rPr>
              <a:t>Config Handling: Boolean values (resave, saveUninitialized) không áp dụng đúng từ getConfig.</a:t>
            </a:r>
          </a:p>
          <a:p>
            <a:pPr algn="l" marL="199838" indent="-99919" lvl="1">
              <a:lnSpc>
                <a:spcPts val="1851"/>
              </a:lnSpc>
              <a:buFont typeface="Arial"/>
              <a:buChar char="•"/>
            </a:pPr>
            <a:r>
              <a:rPr lang="en-US" sz="925">
                <a:solidFill>
                  <a:srgbClr val="0C6980"/>
                </a:solidFill>
                <a:latin typeface="Montserrat"/>
                <a:ea typeface="Montserrat"/>
                <a:cs typeface="Montserrat"/>
                <a:sym typeface="Montserrat"/>
              </a:rPr>
              <a:t>Store Creation: Kết nối DB thực tế được dùng trong test, rủi ro an toàn.</a:t>
            </a:r>
          </a:p>
          <a:p>
            <a:pPr algn="l">
              <a:lnSpc>
                <a:spcPts val="1851"/>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9268" y="393301"/>
            <a:ext cx="1940629" cy="227791"/>
            <a:chOff x="0" y="0"/>
            <a:chExt cx="1283723" cy="150684"/>
          </a:xfrm>
        </p:grpSpPr>
        <p:sp>
          <p:nvSpPr>
            <p:cNvPr name="Freeform 3" id="3"/>
            <p:cNvSpPr/>
            <p:nvPr/>
          </p:nvSpPr>
          <p:spPr>
            <a:xfrm flipH="false" flipV="false" rot="0">
              <a:off x="0" y="0"/>
              <a:ext cx="1283723" cy="150684"/>
            </a:xfrm>
            <a:custGeom>
              <a:avLst/>
              <a:gdLst/>
              <a:ahLst/>
              <a:cxnLst/>
              <a:rect r="r" b="b" t="t" l="l"/>
              <a:pathLst>
                <a:path h="150684" w="1283723">
                  <a:moveTo>
                    <a:pt x="75342" y="0"/>
                  </a:moveTo>
                  <a:lnTo>
                    <a:pt x="1208382" y="0"/>
                  </a:lnTo>
                  <a:cubicBezTo>
                    <a:pt x="1249992" y="0"/>
                    <a:pt x="1283723" y="33732"/>
                    <a:pt x="1283723" y="75342"/>
                  </a:cubicBezTo>
                  <a:lnTo>
                    <a:pt x="1283723" y="75342"/>
                  </a:lnTo>
                  <a:cubicBezTo>
                    <a:pt x="1283723" y="95324"/>
                    <a:pt x="1275786" y="114487"/>
                    <a:pt x="1261656" y="128617"/>
                  </a:cubicBezTo>
                  <a:cubicBezTo>
                    <a:pt x="1247527" y="142746"/>
                    <a:pt x="1228363" y="150684"/>
                    <a:pt x="1208382" y="150684"/>
                  </a:cubicBezTo>
                  <a:lnTo>
                    <a:pt x="75342" y="150684"/>
                  </a:lnTo>
                  <a:cubicBezTo>
                    <a:pt x="55360" y="150684"/>
                    <a:pt x="36196" y="142746"/>
                    <a:pt x="22067" y="128617"/>
                  </a:cubicBezTo>
                  <a:cubicBezTo>
                    <a:pt x="7938" y="114487"/>
                    <a:pt x="0" y="95324"/>
                    <a:pt x="0" y="75342"/>
                  </a:cubicBezTo>
                  <a:lnTo>
                    <a:pt x="0" y="75342"/>
                  </a:lnTo>
                  <a:cubicBezTo>
                    <a:pt x="0" y="55360"/>
                    <a:pt x="7938" y="36196"/>
                    <a:pt x="22067" y="22067"/>
                  </a:cubicBezTo>
                  <a:cubicBezTo>
                    <a:pt x="36196" y="7938"/>
                    <a:pt x="55360" y="0"/>
                    <a:pt x="75342" y="0"/>
                  </a:cubicBezTo>
                  <a:close/>
                </a:path>
              </a:pathLst>
            </a:custGeom>
            <a:solidFill>
              <a:srgbClr val="0C6980"/>
            </a:solidFill>
          </p:spPr>
        </p:sp>
        <p:sp>
          <p:nvSpPr>
            <p:cNvPr name="TextBox 4" id="4"/>
            <p:cNvSpPr txBox="true"/>
            <p:nvPr/>
          </p:nvSpPr>
          <p:spPr>
            <a:xfrm>
              <a:off x="0" y="-28575"/>
              <a:ext cx="1283723" cy="179259"/>
            </a:xfrm>
            <a:prstGeom prst="rect">
              <a:avLst/>
            </a:prstGeom>
          </p:spPr>
          <p:txBody>
            <a:bodyPr anchor="ctr" rtlCol="false" tIns="50800" lIns="50800" bIns="50800" rIns="50800"/>
            <a:lstStyle/>
            <a:p>
              <a:pPr algn="ctr">
                <a:lnSpc>
                  <a:spcPts val="1182"/>
                </a:lnSpc>
              </a:pPr>
            </a:p>
          </p:txBody>
        </p:sp>
      </p:grpSp>
      <p:sp>
        <p:nvSpPr>
          <p:cNvPr name="Freeform 5" id="5"/>
          <p:cNvSpPr/>
          <p:nvPr/>
        </p:nvSpPr>
        <p:spPr>
          <a:xfrm flipH="false" flipV="false" rot="0">
            <a:off x="212000" y="1188613"/>
            <a:ext cx="4276845" cy="1974878"/>
          </a:xfrm>
          <a:custGeom>
            <a:avLst/>
            <a:gdLst/>
            <a:ahLst/>
            <a:cxnLst/>
            <a:rect r="r" b="b" t="t" l="l"/>
            <a:pathLst>
              <a:path h="1974878" w="4276845">
                <a:moveTo>
                  <a:pt x="0" y="0"/>
                </a:moveTo>
                <a:lnTo>
                  <a:pt x="4276846" y="0"/>
                </a:lnTo>
                <a:lnTo>
                  <a:pt x="4276846" y="1974878"/>
                </a:lnTo>
                <a:lnTo>
                  <a:pt x="0" y="1974878"/>
                </a:lnTo>
                <a:lnTo>
                  <a:pt x="0" y="0"/>
                </a:lnTo>
                <a:close/>
              </a:path>
            </a:pathLst>
          </a:custGeom>
          <a:blipFill>
            <a:blip r:embed="rId2"/>
            <a:stretch>
              <a:fillRect l="0" t="0" r="0" b="0"/>
            </a:stretch>
          </a:blipFill>
        </p:spPr>
      </p:sp>
      <p:sp>
        <p:nvSpPr>
          <p:cNvPr name="TextBox 6" id="6"/>
          <p:cNvSpPr txBox="true"/>
          <p:nvPr/>
        </p:nvSpPr>
        <p:spPr>
          <a:xfrm rot="0">
            <a:off x="133971" y="418940"/>
            <a:ext cx="1587497"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E2E testing</a:t>
            </a:r>
          </a:p>
        </p:txBody>
      </p:sp>
      <p:sp>
        <p:nvSpPr>
          <p:cNvPr name="TextBox 7" id="7"/>
          <p:cNvSpPr txBox="true"/>
          <p:nvPr/>
        </p:nvSpPr>
        <p:spPr>
          <a:xfrm rot="0">
            <a:off x="4697886" y="1112413"/>
            <a:ext cx="2156927" cy="1125159"/>
          </a:xfrm>
          <a:prstGeom prst="rect">
            <a:avLst/>
          </a:prstGeom>
        </p:spPr>
        <p:txBody>
          <a:bodyPr anchor="t" rtlCol="false" tIns="0" lIns="0" bIns="0" rIns="0">
            <a:spAutoFit/>
          </a:bodyPr>
          <a:lstStyle/>
          <a:p>
            <a:pPr algn="just">
              <a:lnSpc>
                <a:spcPts val="1851"/>
              </a:lnSpc>
            </a:pPr>
            <a:r>
              <a:rPr lang="en-US" b="true" sz="925">
                <a:solidFill>
                  <a:srgbClr val="0C6980"/>
                </a:solidFill>
                <a:latin typeface="Montserrat Bold"/>
                <a:ea typeface="Montserrat Bold"/>
                <a:cs typeface="Montserrat Bold"/>
                <a:sym typeface="Montserrat Bold"/>
              </a:rPr>
              <a:t>Mục đích tổng quát</a:t>
            </a:r>
            <a:r>
              <a:rPr lang="en-US" sz="925">
                <a:solidFill>
                  <a:srgbClr val="0C6980"/>
                </a:solidFill>
                <a:latin typeface="Montserrat"/>
                <a:ea typeface="Montserrat"/>
                <a:cs typeface="Montserrat"/>
                <a:sym typeface="Montserrat"/>
              </a:rPr>
              <a:t>:</a:t>
            </a:r>
          </a:p>
          <a:p>
            <a:pPr algn="just">
              <a:lnSpc>
                <a:spcPts val="1851"/>
              </a:lnSpc>
            </a:pPr>
            <a:r>
              <a:rPr lang="en-US" sz="925">
                <a:solidFill>
                  <a:srgbClr val="0C6980"/>
                </a:solidFill>
                <a:latin typeface="Montserrat"/>
                <a:ea typeface="Montserrat"/>
                <a:cs typeface="Montserrat"/>
                <a:sym typeface="Montserrat"/>
              </a:rPr>
              <a:t> Kiểm thử luồng người dùng thực tế, bao gồm login/logout, access control, bảo mật và flows cho</a:t>
            </a:r>
            <a:r>
              <a:rPr lang="en-US" b="true" sz="925">
                <a:solidFill>
                  <a:srgbClr val="0C6980"/>
                </a:solidFill>
                <a:latin typeface="Montserrat Bold"/>
                <a:ea typeface="Montserrat Bold"/>
                <a:cs typeface="Montserrat Bold"/>
                <a:sym typeface="Montserrat Bold"/>
              </a:rPr>
              <a:t> </a:t>
            </a:r>
            <a:r>
              <a:rPr lang="en-US" sz="925">
                <a:solidFill>
                  <a:srgbClr val="0C6980"/>
                </a:solidFill>
                <a:latin typeface="Montserrat"/>
                <a:ea typeface="Montserrat"/>
                <a:cs typeface="Montserrat"/>
                <a:sym typeface="Montserrat"/>
              </a:rPr>
              <a:t>admin/customer.</a:t>
            </a:r>
          </a:p>
        </p:txBody>
      </p:sp>
      <p:sp>
        <p:nvSpPr>
          <p:cNvPr name="Freeform 8" id="8"/>
          <p:cNvSpPr/>
          <p:nvPr/>
        </p:nvSpPr>
        <p:spPr>
          <a:xfrm flipH="false" flipV="false" rot="0">
            <a:off x="1721467" y="313061"/>
            <a:ext cx="958290" cy="388273"/>
          </a:xfrm>
          <a:custGeom>
            <a:avLst/>
            <a:gdLst/>
            <a:ahLst/>
            <a:cxnLst/>
            <a:rect r="r" b="b" t="t" l="l"/>
            <a:pathLst>
              <a:path h="388273" w="958290">
                <a:moveTo>
                  <a:pt x="0" y="0"/>
                </a:moveTo>
                <a:lnTo>
                  <a:pt x="958291" y="0"/>
                </a:lnTo>
                <a:lnTo>
                  <a:pt x="958291" y="388273"/>
                </a:lnTo>
                <a:lnTo>
                  <a:pt x="0" y="388273"/>
                </a:lnTo>
                <a:lnTo>
                  <a:pt x="0" y="0"/>
                </a:lnTo>
                <a:close/>
              </a:path>
            </a:pathLst>
          </a:custGeom>
          <a:blipFill>
            <a:blip r:embed="rId3"/>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866354" y="409575"/>
          <a:ext cx="9610725" cy="4063746"/>
        </p:xfrm>
        <a:graphic>
          <a:graphicData uri="http://schemas.openxmlformats.org/presentationml/2006/ole">
            <p:oleObj imgW="11531600" imgH="5981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21321" y="770127"/>
            <a:ext cx="5301109" cy="1125159"/>
          </a:xfrm>
          <a:prstGeom prst="rect">
            <a:avLst/>
          </a:prstGeom>
        </p:spPr>
        <p:txBody>
          <a:bodyPr anchor="t" rtlCol="false" tIns="0" lIns="0" bIns="0" rIns="0">
            <a:spAutoFit/>
          </a:bodyPr>
          <a:lstStyle/>
          <a:p>
            <a:pPr algn="l">
              <a:lnSpc>
                <a:spcPts val="1851"/>
              </a:lnSpc>
            </a:pPr>
            <a:r>
              <a:rPr lang="en-US" b="true" sz="925">
                <a:solidFill>
                  <a:srgbClr val="0C6980"/>
                </a:solidFill>
                <a:latin typeface="Montserrat Bold"/>
                <a:ea typeface="Montserrat Bold"/>
                <a:cs typeface="Montserrat Bold"/>
                <a:sym typeface="Montserrat Bold"/>
              </a:rPr>
              <a:t>Vấn Đề Chính Từ E2E</a:t>
            </a:r>
          </a:p>
          <a:p>
            <a:pPr algn="l">
              <a:lnSpc>
                <a:spcPts val="1851"/>
              </a:lnSpc>
            </a:pPr>
            <a:r>
              <a:rPr lang="en-US" sz="925">
                <a:solidFill>
                  <a:srgbClr val="0C6980"/>
                </a:solidFill>
                <a:latin typeface="Montserrat"/>
                <a:ea typeface="Montserrat"/>
                <a:cs typeface="Montserrat"/>
                <a:sym typeface="Montserrat"/>
              </a:rPr>
              <a:t>Access Control: Không ngăn chặn đúng truy cập không phép (session validation lỗi).</a:t>
            </a:r>
          </a:p>
          <a:p>
            <a:pPr algn="l">
              <a:lnSpc>
                <a:spcPts val="1851"/>
              </a:lnSpc>
            </a:pPr>
            <a:r>
              <a:rPr lang="en-US" sz="925">
                <a:solidFill>
                  <a:srgbClr val="0C6980"/>
                </a:solidFill>
                <a:latin typeface="Montserrat"/>
                <a:ea typeface="Montserrat"/>
                <a:cs typeface="Montserrat"/>
                <a:sym typeface="Montserrat"/>
              </a:rPr>
              <a:t>Bảo Mật: Thất bại ở CSRF, XSS, SQL Injection, password masking và secure cookies.</a:t>
            </a:r>
          </a:p>
          <a:p>
            <a:pPr algn="l">
              <a:lnSpc>
                <a:spcPts val="1851"/>
              </a:lnSpc>
            </a:pPr>
            <a:r>
              <a:rPr lang="en-US" sz="925">
                <a:solidFill>
                  <a:srgbClr val="0C6980"/>
                </a:solidFill>
                <a:latin typeface="Montserrat"/>
                <a:ea typeface="Montserrat"/>
                <a:cs typeface="Montserrat"/>
                <a:sym typeface="Montserrat"/>
              </a:rPr>
              <a:t>Logout Issues: Session/localStorage không xóa hoàn toàn, dẫn đến rủi ro session hijacking.</a:t>
            </a:r>
          </a:p>
          <a:p>
            <a:pPr algn="l">
              <a:lnSpc>
                <a:spcPts val="1851"/>
              </a:lnSpc>
            </a:pPr>
            <a:r>
              <a:rPr lang="en-US" sz="925">
                <a:solidFill>
                  <a:srgbClr val="0C6980"/>
                </a:solidFill>
                <a:latin typeface="Montserrat"/>
                <a:ea typeface="Montserrat"/>
                <a:cs typeface="Montserrat"/>
                <a:sym typeface="Montserrat"/>
              </a:rPr>
              <a:t>Khác: Một số edge cases ở form validation và timeout.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9268" y="393301"/>
            <a:ext cx="2837868" cy="227791"/>
            <a:chOff x="0" y="0"/>
            <a:chExt cx="1877246" cy="150684"/>
          </a:xfrm>
        </p:grpSpPr>
        <p:sp>
          <p:nvSpPr>
            <p:cNvPr name="Freeform 3" id="3"/>
            <p:cNvSpPr/>
            <p:nvPr/>
          </p:nvSpPr>
          <p:spPr>
            <a:xfrm flipH="false" flipV="false" rot="0">
              <a:off x="0" y="0"/>
              <a:ext cx="1877246" cy="150684"/>
            </a:xfrm>
            <a:custGeom>
              <a:avLst/>
              <a:gdLst/>
              <a:ahLst/>
              <a:cxnLst/>
              <a:rect r="r" b="b" t="t" l="l"/>
              <a:pathLst>
                <a:path h="150684" w="1877246">
                  <a:moveTo>
                    <a:pt x="75342" y="0"/>
                  </a:moveTo>
                  <a:lnTo>
                    <a:pt x="1801904" y="0"/>
                  </a:lnTo>
                  <a:cubicBezTo>
                    <a:pt x="1821886" y="0"/>
                    <a:pt x="1841050" y="7938"/>
                    <a:pt x="1855179" y="22067"/>
                  </a:cubicBezTo>
                  <a:cubicBezTo>
                    <a:pt x="1869309" y="36196"/>
                    <a:pt x="1877246" y="55360"/>
                    <a:pt x="1877246" y="75342"/>
                  </a:cubicBezTo>
                  <a:lnTo>
                    <a:pt x="1877246" y="75342"/>
                  </a:lnTo>
                  <a:cubicBezTo>
                    <a:pt x="1877246" y="116952"/>
                    <a:pt x="1843515" y="150684"/>
                    <a:pt x="1801904" y="150684"/>
                  </a:cubicBezTo>
                  <a:lnTo>
                    <a:pt x="75342" y="150684"/>
                  </a:lnTo>
                  <a:cubicBezTo>
                    <a:pt x="55360" y="150684"/>
                    <a:pt x="36196" y="142746"/>
                    <a:pt x="22067" y="128617"/>
                  </a:cubicBezTo>
                  <a:cubicBezTo>
                    <a:pt x="7938" y="114487"/>
                    <a:pt x="0" y="95324"/>
                    <a:pt x="0" y="75342"/>
                  </a:cubicBezTo>
                  <a:lnTo>
                    <a:pt x="0" y="75342"/>
                  </a:lnTo>
                  <a:cubicBezTo>
                    <a:pt x="0" y="55360"/>
                    <a:pt x="7938" y="36196"/>
                    <a:pt x="22067" y="22067"/>
                  </a:cubicBezTo>
                  <a:cubicBezTo>
                    <a:pt x="36196" y="7938"/>
                    <a:pt x="55360" y="0"/>
                    <a:pt x="75342" y="0"/>
                  </a:cubicBezTo>
                  <a:close/>
                </a:path>
              </a:pathLst>
            </a:custGeom>
            <a:solidFill>
              <a:srgbClr val="0C6980"/>
            </a:solidFill>
          </p:spPr>
        </p:sp>
        <p:sp>
          <p:nvSpPr>
            <p:cNvPr name="TextBox 4" id="4"/>
            <p:cNvSpPr txBox="true"/>
            <p:nvPr/>
          </p:nvSpPr>
          <p:spPr>
            <a:xfrm>
              <a:off x="0" y="-28575"/>
              <a:ext cx="1877246" cy="179259"/>
            </a:xfrm>
            <a:prstGeom prst="rect">
              <a:avLst/>
            </a:prstGeom>
          </p:spPr>
          <p:txBody>
            <a:bodyPr anchor="ctr" rtlCol="false" tIns="50800" lIns="50800" bIns="50800" rIns="50800"/>
            <a:lstStyle/>
            <a:p>
              <a:pPr algn="ctr">
                <a:lnSpc>
                  <a:spcPts val="1182"/>
                </a:lnSpc>
              </a:pPr>
            </a:p>
          </p:txBody>
        </p:sp>
      </p:grpSp>
      <p:graphicFrame>
        <p:nvGraphicFramePr>
          <p:cNvPr name="Object 5" id="5"/>
          <p:cNvGraphicFramePr/>
          <p:nvPr/>
        </p:nvGraphicFramePr>
        <p:xfrm>
          <a:off x="3591744" y="225697"/>
          <a:ext cx="6648450" cy="3294602"/>
        </p:xfrm>
        <a:graphic>
          <a:graphicData uri="http://schemas.openxmlformats.org/presentationml/2006/ole">
            <p:oleObj imgW="7975600" imgH="4610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133971" y="418940"/>
            <a:ext cx="2424418"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Phân Tích Tổng Thể Vấn Đề</a:t>
            </a:r>
          </a:p>
        </p:txBody>
      </p:sp>
      <p:sp>
        <p:nvSpPr>
          <p:cNvPr name="TextBox 7" id="7"/>
          <p:cNvSpPr txBox="true"/>
          <p:nvPr/>
        </p:nvSpPr>
        <p:spPr>
          <a:xfrm rot="0">
            <a:off x="196035" y="914936"/>
            <a:ext cx="2907302" cy="2771239"/>
          </a:xfrm>
          <a:prstGeom prst="rect">
            <a:avLst/>
          </a:prstGeom>
        </p:spPr>
        <p:txBody>
          <a:bodyPr anchor="t" rtlCol="false" tIns="0" lIns="0" bIns="0" rIns="0">
            <a:spAutoFit/>
          </a:bodyPr>
          <a:lstStyle/>
          <a:p>
            <a:pPr algn="just">
              <a:lnSpc>
                <a:spcPts val="1501"/>
              </a:lnSpc>
            </a:pPr>
            <a:r>
              <a:rPr lang="en-US" b="true" sz="750">
                <a:solidFill>
                  <a:srgbClr val="0C6980"/>
                </a:solidFill>
                <a:latin typeface="Montserrat Bold"/>
                <a:ea typeface="Montserrat Bold"/>
                <a:cs typeface="Montserrat Bold"/>
                <a:sym typeface="Montserrat Bold"/>
              </a:rPr>
              <a:t>Các Vấn Đề Chính Được Xác Định</a:t>
            </a:r>
          </a:p>
          <a:p>
            <a:pPr algn="just" marL="162064" indent="-81032" lvl="1">
              <a:lnSpc>
                <a:spcPts val="1501"/>
              </a:lnSpc>
              <a:buFont typeface="Arial"/>
              <a:buChar char="•"/>
            </a:pPr>
            <a:r>
              <a:rPr lang="en-US" sz="750">
                <a:solidFill>
                  <a:srgbClr val="0C6980"/>
                </a:solidFill>
                <a:latin typeface="Montserrat"/>
                <a:ea typeface="Montserrat"/>
                <a:cs typeface="Montserrat"/>
                <a:sym typeface="Montserrat"/>
              </a:rPr>
              <a:t>Bảo Mật &amp; Access Control (Từ E2E - Cao): Tỷ lệ fail cao ở auth-security (40%) và access-control (44%). Rủi ro: CSRF, XSS, SQL Injection, session hijacking. Ảnh hưởng: Toàn bộ hệ thống dễ bị tấn công.</a:t>
            </a:r>
          </a:p>
          <a:p>
            <a:pPr algn="just" marL="162064" indent="-81032" lvl="1">
              <a:lnSpc>
                <a:spcPts val="1501"/>
              </a:lnSpc>
              <a:buFont typeface="Arial"/>
              <a:buChar char="•"/>
            </a:pPr>
            <a:r>
              <a:rPr lang="en-US" sz="750">
                <a:solidFill>
                  <a:srgbClr val="0C6980"/>
                </a:solidFill>
                <a:latin typeface="Montserrat"/>
                <a:ea typeface="Montserrat"/>
                <a:cs typeface="Montserrat"/>
                <a:sym typeface="Montserrat"/>
              </a:rPr>
              <a:t>Session Management &amp; Cleanup (Từ E2E &amp; Unit - Trung Bình): Logout không xóa session hoàn toàn; config resave/saveUninitialized sai ở unit. Ảnh hưởng: Session reuse, dữ liệu nhạy cảm lộ.</a:t>
            </a:r>
          </a:p>
          <a:p>
            <a:pPr algn="just" marL="162064" indent="-81032" lvl="1">
              <a:lnSpc>
                <a:spcPts val="1501"/>
              </a:lnSpc>
              <a:buFont typeface="Arial"/>
              <a:buChar char="•"/>
            </a:pPr>
            <a:r>
              <a:rPr lang="en-US" sz="750">
                <a:solidFill>
                  <a:srgbClr val="0C6980"/>
                </a:solidFill>
                <a:latin typeface="Montserrat"/>
                <a:ea typeface="Montserrat"/>
                <a:cs typeface="Montserrat"/>
                <a:sym typeface="Montserrat"/>
              </a:rPr>
              <a:t>Mock &amp; Dependency Injection (Từ Unit - Thấp): Mock không hoạt động, dẫn đến test không isolate. Ảnh hưởng: Test không đáng tin cậy, nhưng code thực tế có thể ổn.</a:t>
            </a:r>
          </a:p>
          <a:p>
            <a:pPr algn="just" marL="162064" indent="-81032" lvl="1">
              <a:lnSpc>
                <a:spcPts val="1501"/>
              </a:lnSpc>
              <a:buFont typeface="Arial"/>
              <a:buChar char="•"/>
            </a:pPr>
            <a:r>
              <a:rPr lang="en-US" sz="750">
                <a:solidFill>
                  <a:srgbClr val="0C6980"/>
                </a:solidFill>
                <a:latin typeface="Montserrat"/>
                <a:ea typeface="Montserrat"/>
                <a:cs typeface="Montserrat"/>
                <a:sym typeface="Montserrat"/>
              </a:rPr>
              <a:t>Cấu Hình Môi Trường (Từ Unit): Cảnh báo NODE_ENV, thiếu config files. Ảnh hưởng: Test không nhất quán.</a:t>
            </a:r>
          </a:p>
        </p:txBody>
      </p:sp>
      <p:sp>
        <p:nvSpPr>
          <p:cNvPr name="TextBox 8" id="8"/>
          <p:cNvSpPr txBox="true"/>
          <p:nvPr/>
        </p:nvSpPr>
        <p:spPr>
          <a:xfrm rot="0">
            <a:off x="3571875" y="3202696"/>
            <a:ext cx="3162300" cy="627083"/>
          </a:xfrm>
          <a:prstGeom prst="rect">
            <a:avLst/>
          </a:prstGeom>
        </p:spPr>
        <p:txBody>
          <a:bodyPr anchor="t" rtlCol="false" tIns="0" lIns="0" bIns="0" rIns="0">
            <a:spAutoFit/>
          </a:bodyPr>
          <a:lstStyle/>
          <a:p>
            <a:pPr algn="l">
              <a:lnSpc>
                <a:spcPts val="980"/>
              </a:lnSpc>
              <a:spcBef>
                <a:spcPct val="0"/>
              </a:spcBef>
            </a:pPr>
            <a:r>
              <a:rPr lang="en-US" b="true" sz="700">
                <a:solidFill>
                  <a:srgbClr val="0C6980"/>
                </a:solidFill>
                <a:latin typeface="Montserrat Bold"/>
                <a:ea typeface="Montserrat Bold"/>
                <a:cs typeface="Montserrat Bold"/>
                <a:sym typeface="Montserrat Bold"/>
              </a:rPr>
              <a:t>Thống Kê Theo Loại</a:t>
            </a:r>
          </a:p>
          <a:p>
            <a:pPr algn="l" marL="151267" indent="-75633" lvl="1">
              <a:lnSpc>
                <a:spcPts val="1401"/>
              </a:lnSpc>
              <a:buFont typeface="Arial"/>
              <a:buChar char="•"/>
            </a:pPr>
            <a:r>
              <a:rPr lang="en-US" sz="700">
                <a:solidFill>
                  <a:srgbClr val="0C6980"/>
                </a:solidFill>
                <a:latin typeface="Montserrat"/>
                <a:ea typeface="Montserrat"/>
                <a:cs typeface="Montserrat"/>
                <a:sym typeface="Montserrat"/>
              </a:rPr>
              <a:t>Admin-Related: ~78% pass (E2E), tập trung fail ở security/access.</a:t>
            </a:r>
          </a:p>
          <a:p>
            <a:pPr algn="l" marL="151267" indent="-75633" lvl="1">
              <a:lnSpc>
                <a:spcPts val="1401"/>
              </a:lnSpc>
              <a:buFont typeface="Arial"/>
              <a:buChar char="•"/>
            </a:pPr>
            <a:r>
              <a:rPr lang="en-US" sz="700">
                <a:solidFill>
                  <a:srgbClr val="0C6980"/>
                </a:solidFill>
                <a:latin typeface="Montserrat"/>
                <a:ea typeface="Montserrat"/>
                <a:cs typeface="Montserrat"/>
                <a:sym typeface="Montserrat"/>
              </a:rPr>
              <a:t>Customer-Related: ~88% pass (E2E), ổn hơn.</a:t>
            </a:r>
          </a:p>
          <a:p>
            <a:pPr algn="l" marL="151267" indent="-75633" lvl="1">
              <a:lnSpc>
                <a:spcPts val="1401"/>
              </a:lnSpc>
              <a:buFont typeface="Arial"/>
              <a:buChar char="•"/>
            </a:pPr>
            <a:r>
              <a:rPr lang="en-US" sz="700">
                <a:solidFill>
                  <a:srgbClr val="0C6980"/>
                </a:solidFill>
                <a:latin typeface="Montserrat"/>
                <a:ea typeface="Montserrat"/>
                <a:cs typeface="Montserrat"/>
                <a:sym typeface="Montserrat"/>
              </a:rPr>
              <a:t>Config/Session: 100% coverage nhưng 11.4% fail (Unit).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20530" y="120530"/>
            <a:ext cx="3158770" cy="3468541"/>
          </a:xfrm>
          <a:prstGeom prst="rect">
            <a:avLst/>
          </a:prstGeom>
        </p:spPr>
      </p:pic>
      <p:sp>
        <p:nvSpPr>
          <p:cNvPr name="TextBox 3" id="3"/>
          <p:cNvSpPr txBox="true"/>
          <p:nvPr/>
        </p:nvSpPr>
        <p:spPr>
          <a:xfrm rot="0">
            <a:off x="563137" y="3438742"/>
            <a:ext cx="2220856" cy="475816"/>
          </a:xfrm>
          <a:prstGeom prst="rect">
            <a:avLst/>
          </a:prstGeom>
        </p:spPr>
        <p:txBody>
          <a:bodyPr anchor="t" rtlCol="false" tIns="0" lIns="0" bIns="0" rIns="0">
            <a:spAutoFit/>
          </a:bodyPr>
          <a:lstStyle/>
          <a:p>
            <a:pPr algn="ctr">
              <a:lnSpc>
                <a:spcPts val="980"/>
              </a:lnSpc>
            </a:pPr>
            <a:r>
              <a:rPr lang="en-US" sz="700" b="true">
                <a:solidFill>
                  <a:srgbClr val="0C6980"/>
                </a:solidFill>
                <a:latin typeface="Montserrat Bold"/>
                <a:ea typeface="Montserrat Bold"/>
                <a:cs typeface="Montserrat Bold"/>
                <a:sym typeface="Montserrat Bold"/>
              </a:rPr>
              <a:t>Biểu đồ tròn thể hiện Test E2E dùng Cypress</a:t>
            </a:r>
          </a:p>
          <a:p>
            <a:pPr algn="ctr">
              <a:lnSpc>
                <a:spcPts val="980"/>
              </a:lnSpc>
            </a:pPr>
            <a:r>
              <a:rPr lang="en-US" sz="700" b="true">
                <a:solidFill>
                  <a:srgbClr val="0C6980"/>
                </a:solidFill>
                <a:latin typeface="Montserrat Bold"/>
                <a:ea typeface="Montserrat Bold"/>
                <a:cs typeface="Montserrat Bold"/>
                <a:sym typeface="Montserrat Bold"/>
              </a:rPr>
              <a:t>Total test: 222</a:t>
            </a:r>
          </a:p>
          <a:p>
            <a:pPr algn="ctr">
              <a:lnSpc>
                <a:spcPts val="980"/>
              </a:lnSpc>
            </a:pPr>
            <a:r>
              <a:rPr lang="en-US" sz="700" b="true">
                <a:solidFill>
                  <a:srgbClr val="0C6980"/>
                </a:solidFill>
                <a:latin typeface="Montserrat Bold"/>
                <a:ea typeface="Montserrat Bold"/>
                <a:cs typeface="Montserrat Bold"/>
                <a:sym typeface="Montserrat Bold"/>
              </a:rPr>
              <a:t>passed: 177</a:t>
            </a:r>
          </a:p>
          <a:p>
            <a:pPr algn="ctr">
              <a:lnSpc>
                <a:spcPts val="980"/>
              </a:lnSpc>
            </a:pPr>
            <a:r>
              <a:rPr lang="en-US" b="true" sz="700">
                <a:solidFill>
                  <a:srgbClr val="0C6980"/>
                </a:solidFill>
                <a:latin typeface="Montserrat Bold"/>
                <a:ea typeface="Montserrat Bold"/>
                <a:cs typeface="Montserrat Bold"/>
                <a:sym typeface="Montserrat Bold"/>
              </a:rPr>
              <a:t>Failed: 45</a:t>
            </a:r>
          </a:p>
        </p:txBody>
      </p:sp>
      <p:pic>
        <p:nvPicPr>
          <p:cNvPr name="Picture 4" id="4"/>
          <p:cNvPicPr>
            <a:picLocks noChangeAspect="true"/>
          </p:cNvPicPr>
          <p:nvPr/>
        </p:nvPicPr>
        <p:blipFill>
          <a:blip r:embed="rId3"/>
          <a:stretch>
            <a:fillRect/>
          </a:stretch>
        </p:blipFill>
        <p:spPr>
          <a:xfrm rot="0">
            <a:off x="3886696" y="-8131"/>
            <a:ext cx="3162563" cy="3781006"/>
          </a:xfrm>
          <a:prstGeom prst="rect">
            <a:avLst/>
          </a:prstGeom>
        </p:spPr>
      </p:pic>
      <p:sp>
        <p:nvSpPr>
          <p:cNvPr name="TextBox 5" id="5"/>
          <p:cNvSpPr txBox="true"/>
          <p:nvPr/>
        </p:nvSpPr>
        <p:spPr>
          <a:xfrm rot="0">
            <a:off x="4357549" y="3438742"/>
            <a:ext cx="2220856" cy="475816"/>
          </a:xfrm>
          <a:prstGeom prst="rect">
            <a:avLst/>
          </a:prstGeom>
        </p:spPr>
        <p:txBody>
          <a:bodyPr anchor="t" rtlCol="false" tIns="0" lIns="0" bIns="0" rIns="0">
            <a:spAutoFit/>
          </a:bodyPr>
          <a:lstStyle/>
          <a:p>
            <a:pPr algn="ctr">
              <a:lnSpc>
                <a:spcPts val="980"/>
              </a:lnSpc>
            </a:pPr>
            <a:r>
              <a:rPr lang="en-US" sz="700" b="true">
                <a:solidFill>
                  <a:srgbClr val="0C6980"/>
                </a:solidFill>
                <a:latin typeface="Montserrat Bold"/>
                <a:ea typeface="Montserrat Bold"/>
                <a:cs typeface="Montserrat Bold"/>
                <a:sym typeface="Montserrat Bold"/>
              </a:rPr>
              <a:t>Biểu đồ tròn thể hiện Unit/Integration</a:t>
            </a:r>
          </a:p>
          <a:p>
            <a:pPr algn="ctr">
              <a:lnSpc>
                <a:spcPts val="980"/>
              </a:lnSpc>
            </a:pPr>
            <a:r>
              <a:rPr lang="en-US" sz="700" b="true">
                <a:solidFill>
                  <a:srgbClr val="0C6980"/>
                </a:solidFill>
                <a:latin typeface="Montserrat Bold"/>
                <a:ea typeface="Montserrat Bold"/>
                <a:cs typeface="Montserrat Bold"/>
                <a:sym typeface="Montserrat Bold"/>
              </a:rPr>
              <a:t>Total test: 105</a:t>
            </a:r>
          </a:p>
          <a:p>
            <a:pPr algn="ctr">
              <a:lnSpc>
                <a:spcPts val="980"/>
              </a:lnSpc>
            </a:pPr>
            <a:r>
              <a:rPr lang="en-US" sz="700" b="true">
                <a:solidFill>
                  <a:srgbClr val="0C6980"/>
                </a:solidFill>
                <a:latin typeface="Montserrat Bold"/>
                <a:ea typeface="Montserrat Bold"/>
                <a:cs typeface="Montserrat Bold"/>
                <a:sym typeface="Montserrat Bold"/>
              </a:rPr>
              <a:t>passed: 93</a:t>
            </a:r>
          </a:p>
          <a:p>
            <a:pPr algn="ctr">
              <a:lnSpc>
                <a:spcPts val="980"/>
              </a:lnSpc>
            </a:pPr>
            <a:r>
              <a:rPr lang="en-US" b="true" sz="700">
                <a:solidFill>
                  <a:srgbClr val="0C6980"/>
                </a:solidFill>
                <a:latin typeface="Montserrat Bold"/>
                <a:ea typeface="Montserrat Bold"/>
                <a:cs typeface="Montserrat Bold"/>
                <a:sym typeface="Montserrat Bold"/>
              </a:rPr>
              <a:t>Failed: 12</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207342" y="-235685"/>
            <a:ext cx="3832209" cy="4357542"/>
          </a:xfrm>
          <a:prstGeom prst="rect">
            <a:avLst/>
          </a:prstGeom>
        </p:spPr>
      </p:pic>
      <p:sp>
        <p:nvSpPr>
          <p:cNvPr name="TextBox 3" id="3"/>
          <p:cNvSpPr txBox="true"/>
          <p:nvPr/>
        </p:nvSpPr>
        <p:spPr>
          <a:xfrm rot="0">
            <a:off x="291381" y="1861279"/>
            <a:ext cx="2220856" cy="475816"/>
          </a:xfrm>
          <a:prstGeom prst="rect">
            <a:avLst/>
          </a:prstGeom>
        </p:spPr>
        <p:txBody>
          <a:bodyPr anchor="t" rtlCol="false" tIns="0" lIns="0" bIns="0" rIns="0">
            <a:spAutoFit/>
          </a:bodyPr>
          <a:lstStyle/>
          <a:p>
            <a:pPr algn="ctr">
              <a:lnSpc>
                <a:spcPts val="980"/>
              </a:lnSpc>
            </a:pPr>
            <a:r>
              <a:rPr lang="en-US" sz="700" b="true">
                <a:solidFill>
                  <a:srgbClr val="0C6980"/>
                </a:solidFill>
                <a:latin typeface="Montserrat Bold"/>
                <a:ea typeface="Montserrat Bold"/>
                <a:cs typeface="Montserrat Bold"/>
                <a:sym typeface="Montserrat Bold"/>
              </a:rPr>
              <a:t>Biểu đồ tròn thể hiện Test Execution Summary</a:t>
            </a:r>
          </a:p>
          <a:p>
            <a:pPr algn="ctr">
              <a:lnSpc>
                <a:spcPts val="980"/>
              </a:lnSpc>
            </a:pPr>
            <a:r>
              <a:rPr lang="en-US" sz="700" b="true">
                <a:solidFill>
                  <a:srgbClr val="0C6980"/>
                </a:solidFill>
                <a:latin typeface="Montserrat Bold"/>
                <a:ea typeface="Montserrat Bold"/>
                <a:cs typeface="Montserrat Bold"/>
                <a:sym typeface="Montserrat Bold"/>
              </a:rPr>
              <a:t>Total test: 327</a:t>
            </a:r>
          </a:p>
          <a:p>
            <a:pPr algn="ctr">
              <a:lnSpc>
                <a:spcPts val="980"/>
              </a:lnSpc>
            </a:pPr>
            <a:r>
              <a:rPr lang="en-US" sz="700" b="true">
                <a:solidFill>
                  <a:srgbClr val="0C6980"/>
                </a:solidFill>
                <a:latin typeface="Montserrat Bold"/>
                <a:ea typeface="Montserrat Bold"/>
                <a:cs typeface="Montserrat Bold"/>
                <a:sym typeface="Montserrat Bold"/>
              </a:rPr>
              <a:t>passed: 270</a:t>
            </a:r>
          </a:p>
          <a:p>
            <a:pPr algn="ctr">
              <a:lnSpc>
                <a:spcPts val="980"/>
              </a:lnSpc>
            </a:pPr>
            <a:r>
              <a:rPr lang="en-US" b="true" sz="700">
                <a:solidFill>
                  <a:srgbClr val="0C6980"/>
                </a:solidFill>
                <a:latin typeface="Montserrat Bold"/>
                <a:ea typeface="Montserrat Bold"/>
                <a:cs typeface="Montserrat Bold"/>
                <a:sym typeface="Montserrat Bold"/>
              </a:rPr>
              <a:t>Failed: 57</a:t>
            </a:r>
          </a:p>
        </p:txBody>
      </p:sp>
    </p:spTree>
  </p:cSld>
  <p:clrMapOvr>
    <a:masterClrMapping/>
  </p:clrMapOvr>
</p:sld>
</file>

<file path=ppt/slides/slide3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8385" y="655353"/>
            <a:ext cx="1721724" cy="227791"/>
            <a:chOff x="0" y="0"/>
            <a:chExt cx="1138918" cy="150684"/>
          </a:xfrm>
        </p:grpSpPr>
        <p:sp>
          <p:nvSpPr>
            <p:cNvPr name="Freeform 3" id="3"/>
            <p:cNvSpPr/>
            <p:nvPr/>
          </p:nvSpPr>
          <p:spPr>
            <a:xfrm flipH="false" flipV="false" rot="0">
              <a:off x="0" y="0"/>
              <a:ext cx="1138918" cy="150684"/>
            </a:xfrm>
            <a:custGeom>
              <a:avLst/>
              <a:gdLst/>
              <a:ahLst/>
              <a:cxnLst/>
              <a:rect r="r" b="b" t="t" l="l"/>
              <a:pathLst>
                <a:path h="150684" w="1138918">
                  <a:moveTo>
                    <a:pt x="75342" y="0"/>
                  </a:moveTo>
                  <a:lnTo>
                    <a:pt x="1063576" y="0"/>
                  </a:lnTo>
                  <a:cubicBezTo>
                    <a:pt x="1083558" y="0"/>
                    <a:pt x="1102722" y="7938"/>
                    <a:pt x="1116851" y="22067"/>
                  </a:cubicBezTo>
                  <a:cubicBezTo>
                    <a:pt x="1130980" y="36196"/>
                    <a:pt x="1138918" y="55360"/>
                    <a:pt x="1138918" y="75342"/>
                  </a:cubicBezTo>
                  <a:lnTo>
                    <a:pt x="1138918" y="75342"/>
                  </a:lnTo>
                  <a:cubicBezTo>
                    <a:pt x="1138918" y="116952"/>
                    <a:pt x="1105186" y="150684"/>
                    <a:pt x="1063576" y="150684"/>
                  </a:cubicBezTo>
                  <a:lnTo>
                    <a:pt x="75342" y="150684"/>
                  </a:lnTo>
                  <a:cubicBezTo>
                    <a:pt x="55360" y="150684"/>
                    <a:pt x="36196" y="142746"/>
                    <a:pt x="22067" y="128617"/>
                  </a:cubicBezTo>
                  <a:cubicBezTo>
                    <a:pt x="7938" y="114487"/>
                    <a:pt x="0" y="95324"/>
                    <a:pt x="0" y="75342"/>
                  </a:cubicBezTo>
                  <a:lnTo>
                    <a:pt x="0" y="75342"/>
                  </a:lnTo>
                  <a:cubicBezTo>
                    <a:pt x="0" y="55360"/>
                    <a:pt x="7938" y="36196"/>
                    <a:pt x="22067" y="22067"/>
                  </a:cubicBezTo>
                  <a:cubicBezTo>
                    <a:pt x="36196" y="7938"/>
                    <a:pt x="55360" y="0"/>
                    <a:pt x="75342" y="0"/>
                  </a:cubicBezTo>
                  <a:close/>
                </a:path>
              </a:pathLst>
            </a:custGeom>
            <a:solidFill>
              <a:srgbClr val="0C6980"/>
            </a:solidFill>
          </p:spPr>
        </p:sp>
        <p:sp>
          <p:nvSpPr>
            <p:cNvPr name="TextBox 4" id="4"/>
            <p:cNvSpPr txBox="true"/>
            <p:nvPr/>
          </p:nvSpPr>
          <p:spPr>
            <a:xfrm>
              <a:off x="0" y="-28575"/>
              <a:ext cx="1138918" cy="179259"/>
            </a:xfrm>
            <a:prstGeom prst="rect">
              <a:avLst/>
            </a:prstGeom>
          </p:spPr>
          <p:txBody>
            <a:bodyPr anchor="ctr" rtlCol="false" tIns="50800" lIns="50800" bIns="50800" rIns="50800"/>
            <a:lstStyle/>
            <a:p>
              <a:pPr algn="ctr">
                <a:lnSpc>
                  <a:spcPts val="1182"/>
                </a:lnSpc>
              </a:pPr>
            </a:p>
          </p:txBody>
        </p:sp>
      </p:grpSp>
      <p:sp>
        <p:nvSpPr>
          <p:cNvPr name="TextBox 5" id="5"/>
          <p:cNvSpPr txBox="true"/>
          <p:nvPr/>
        </p:nvSpPr>
        <p:spPr>
          <a:xfrm rot="0">
            <a:off x="788891" y="220473"/>
            <a:ext cx="5731844" cy="340104"/>
          </a:xfrm>
          <a:prstGeom prst="rect">
            <a:avLst/>
          </a:prstGeom>
        </p:spPr>
        <p:txBody>
          <a:bodyPr anchor="t" rtlCol="false" tIns="0" lIns="0" bIns="0" rIns="0">
            <a:spAutoFit/>
          </a:bodyPr>
          <a:lstStyle/>
          <a:p>
            <a:pPr algn="ctr">
              <a:lnSpc>
                <a:spcPts val="2779"/>
              </a:lnSpc>
            </a:pPr>
            <a:r>
              <a:rPr lang="en-US" b="true" sz="1985">
                <a:solidFill>
                  <a:srgbClr val="0C6980"/>
                </a:solidFill>
                <a:latin typeface="Montserrat Bold"/>
                <a:ea typeface="Montserrat Bold"/>
                <a:cs typeface="Montserrat Bold"/>
                <a:sym typeface="Montserrat Bold"/>
              </a:rPr>
              <a:t>Kết luận &amp; hướng phát triển</a:t>
            </a:r>
          </a:p>
        </p:txBody>
      </p:sp>
      <p:sp>
        <p:nvSpPr>
          <p:cNvPr name="TextBox 6" id="6"/>
          <p:cNvSpPr txBox="true"/>
          <p:nvPr/>
        </p:nvSpPr>
        <p:spPr>
          <a:xfrm rot="0">
            <a:off x="-516305" y="680991"/>
            <a:ext cx="2424418"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Kết luận</a:t>
            </a:r>
          </a:p>
        </p:txBody>
      </p:sp>
      <p:sp>
        <p:nvSpPr>
          <p:cNvPr name="TextBox 7" id="7"/>
          <p:cNvSpPr txBox="true"/>
          <p:nvPr/>
        </p:nvSpPr>
        <p:spPr>
          <a:xfrm rot="0">
            <a:off x="659459" y="1106012"/>
            <a:ext cx="5824831" cy="1955800"/>
          </a:xfrm>
          <a:prstGeom prst="rect">
            <a:avLst/>
          </a:prstGeom>
        </p:spPr>
        <p:txBody>
          <a:bodyPr anchor="t" rtlCol="false" tIns="0" lIns="0" bIns="0" rIns="0">
            <a:spAutoFit/>
          </a:bodyPr>
          <a:lstStyle/>
          <a:p>
            <a:pPr algn="just" marL="215899" indent="-107950" lvl="1">
              <a:lnSpc>
                <a:spcPts val="1999"/>
              </a:lnSpc>
              <a:buFont typeface="Arial"/>
              <a:buChar char="•"/>
            </a:pPr>
            <a:r>
              <a:rPr lang="en-US" b="true" sz="999">
                <a:solidFill>
                  <a:srgbClr val="0C6980"/>
                </a:solidFill>
                <a:latin typeface="Montserrat Bold"/>
                <a:ea typeface="Montserrat Bold"/>
                <a:cs typeface="Montserrat Bold"/>
                <a:sym typeface="Montserrat Bold"/>
              </a:rPr>
              <a:t>Chiến lược kiểm thử toàn diện</a:t>
            </a:r>
            <a:r>
              <a:rPr lang="en-US" sz="999">
                <a:solidFill>
                  <a:srgbClr val="0C6980"/>
                </a:solidFill>
                <a:latin typeface="Montserrat"/>
                <a:ea typeface="Montserrat"/>
                <a:cs typeface="Montserrat"/>
                <a:sym typeface="Montserrat"/>
              </a:rPr>
              <a:t>: Kết hợp thành công mô hình V-Model và quy trình Agile CI/CD để kiểm soát chất lượng xuyên suốt vòng đời phát triển.</a:t>
            </a:r>
          </a:p>
          <a:p>
            <a:pPr algn="just" marL="215899" indent="-107950" lvl="1">
              <a:lnSpc>
                <a:spcPts val="1999"/>
              </a:lnSpc>
              <a:buFont typeface="Arial"/>
              <a:buChar char="•"/>
            </a:pPr>
            <a:r>
              <a:rPr lang="en-US" b="true" sz="999">
                <a:solidFill>
                  <a:srgbClr val="0C6980"/>
                </a:solidFill>
                <a:latin typeface="Montserrat Bold"/>
                <a:ea typeface="Montserrat Bold"/>
                <a:cs typeface="Montserrat Bold"/>
                <a:sym typeface="Montserrat Bold"/>
              </a:rPr>
              <a:t>Độ phủ kiểm thử tối ưu</a:t>
            </a:r>
            <a:r>
              <a:rPr lang="en-US" sz="999">
                <a:solidFill>
                  <a:srgbClr val="0C6980"/>
                </a:solidFill>
                <a:latin typeface="Montserrat"/>
                <a:ea typeface="Montserrat"/>
                <a:cs typeface="Montserrat"/>
                <a:sym typeface="Montserrat"/>
              </a:rPr>
              <a:t>: Thực thi thành công 327 test cases, đạt độ phủ chức năng 92% và độ phủ API 98% thông qua bộ công cụ Jest &amp; Cypress.</a:t>
            </a:r>
          </a:p>
          <a:p>
            <a:pPr algn="just" marL="215899" indent="-107950" lvl="1">
              <a:lnSpc>
                <a:spcPts val="1999"/>
              </a:lnSpc>
              <a:buFont typeface="Arial"/>
              <a:buChar char="•"/>
            </a:pPr>
            <a:r>
              <a:rPr lang="en-US" b="true" sz="999">
                <a:solidFill>
                  <a:srgbClr val="0C6980"/>
                </a:solidFill>
                <a:latin typeface="Montserrat Bold"/>
                <a:ea typeface="Montserrat Bold"/>
                <a:cs typeface="Montserrat Bold"/>
                <a:sym typeface="Montserrat Bold"/>
              </a:rPr>
              <a:t>Đảm bảo tính ổn định</a:t>
            </a:r>
            <a:r>
              <a:rPr lang="en-US" sz="999">
                <a:solidFill>
                  <a:srgbClr val="0C6980"/>
                </a:solidFill>
                <a:latin typeface="Montserrat"/>
                <a:ea typeface="Montserrat"/>
                <a:cs typeface="Montserrat"/>
                <a:sym typeface="Montserrat"/>
              </a:rPr>
              <a:t>: Chỉ số Code Coverage đạt 68%, xác minh chặt chẽ các logic nghiệp vụ quan trọng như thanh toán COD và quản lý sản phẩm.</a:t>
            </a:r>
          </a:p>
          <a:p>
            <a:pPr algn="just" marL="215899" indent="-107950" lvl="1">
              <a:lnSpc>
                <a:spcPts val="1999"/>
              </a:lnSpc>
              <a:buFont typeface="Arial"/>
              <a:buChar char="•"/>
            </a:pPr>
            <a:r>
              <a:rPr lang="en-US" b="true" sz="999">
                <a:solidFill>
                  <a:srgbClr val="0C6980"/>
                </a:solidFill>
                <a:latin typeface="Montserrat Bold"/>
                <a:ea typeface="Montserrat Bold"/>
                <a:cs typeface="Montserrat Bold"/>
                <a:sym typeface="Montserrat Bold"/>
              </a:rPr>
              <a:t>Tối ưu hóa quy trình</a:t>
            </a:r>
            <a:r>
              <a:rPr lang="en-US" sz="999">
                <a:solidFill>
                  <a:srgbClr val="0C6980"/>
                </a:solidFill>
                <a:latin typeface="Montserrat"/>
                <a:ea typeface="Montserrat"/>
                <a:cs typeface="Montserrat"/>
                <a:sym typeface="Montserrat"/>
              </a:rPr>
              <a:t>: Tích hợp kiểm thử tự động vào GitHub Actions, giúp phát hiện lỗi sớm và giảm thiểu rủi ro lỗi hồi quy (Regression).</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8385" y="655353"/>
            <a:ext cx="2296498" cy="227791"/>
            <a:chOff x="0" y="0"/>
            <a:chExt cx="1519130" cy="150684"/>
          </a:xfrm>
        </p:grpSpPr>
        <p:sp>
          <p:nvSpPr>
            <p:cNvPr name="Freeform 3" id="3"/>
            <p:cNvSpPr/>
            <p:nvPr/>
          </p:nvSpPr>
          <p:spPr>
            <a:xfrm flipH="false" flipV="false" rot="0">
              <a:off x="0" y="0"/>
              <a:ext cx="1519130" cy="150684"/>
            </a:xfrm>
            <a:custGeom>
              <a:avLst/>
              <a:gdLst/>
              <a:ahLst/>
              <a:cxnLst/>
              <a:rect r="r" b="b" t="t" l="l"/>
              <a:pathLst>
                <a:path h="150684" w="1519130">
                  <a:moveTo>
                    <a:pt x="75342" y="0"/>
                  </a:moveTo>
                  <a:lnTo>
                    <a:pt x="1443788" y="0"/>
                  </a:lnTo>
                  <a:cubicBezTo>
                    <a:pt x="1463770" y="0"/>
                    <a:pt x="1482934" y="7938"/>
                    <a:pt x="1497063" y="22067"/>
                  </a:cubicBezTo>
                  <a:cubicBezTo>
                    <a:pt x="1511192" y="36196"/>
                    <a:pt x="1519130" y="55360"/>
                    <a:pt x="1519130" y="75342"/>
                  </a:cubicBezTo>
                  <a:lnTo>
                    <a:pt x="1519130" y="75342"/>
                  </a:lnTo>
                  <a:cubicBezTo>
                    <a:pt x="1519130" y="116952"/>
                    <a:pt x="1485399" y="150684"/>
                    <a:pt x="1443788" y="150684"/>
                  </a:cubicBezTo>
                  <a:lnTo>
                    <a:pt x="75342" y="150684"/>
                  </a:lnTo>
                  <a:cubicBezTo>
                    <a:pt x="55360" y="150684"/>
                    <a:pt x="36196" y="142746"/>
                    <a:pt x="22067" y="128617"/>
                  </a:cubicBezTo>
                  <a:cubicBezTo>
                    <a:pt x="7938" y="114487"/>
                    <a:pt x="0" y="95324"/>
                    <a:pt x="0" y="75342"/>
                  </a:cubicBezTo>
                  <a:lnTo>
                    <a:pt x="0" y="75342"/>
                  </a:lnTo>
                  <a:cubicBezTo>
                    <a:pt x="0" y="55360"/>
                    <a:pt x="7938" y="36196"/>
                    <a:pt x="22067" y="22067"/>
                  </a:cubicBezTo>
                  <a:cubicBezTo>
                    <a:pt x="36196" y="7938"/>
                    <a:pt x="55360" y="0"/>
                    <a:pt x="75342" y="0"/>
                  </a:cubicBezTo>
                  <a:close/>
                </a:path>
              </a:pathLst>
            </a:custGeom>
            <a:solidFill>
              <a:srgbClr val="0C6980"/>
            </a:solidFill>
          </p:spPr>
        </p:sp>
        <p:sp>
          <p:nvSpPr>
            <p:cNvPr name="TextBox 4" id="4"/>
            <p:cNvSpPr txBox="true"/>
            <p:nvPr/>
          </p:nvSpPr>
          <p:spPr>
            <a:xfrm>
              <a:off x="0" y="-28575"/>
              <a:ext cx="1519130" cy="179259"/>
            </a:xfrm>
            <a:prstGeom prst="rect">
              <a:avLst/>
            </a:prstGeom>
          </p:spPr>
          <p:txBody>
            <a:bodyPr anchor="ctr" rtlCol="false" tIns="50800" lIns="50800" bIns="50800" rIns="50800"/>
            <a:lstStyle/>
            <a:p>
              <a:pPr algn="ctr">
                <a:lnSpc>
                  <a:spcPts val="1182"/>
                </a:lnSpc>
              </a:pPr>
            </a:p>
          </p:txBody>
        </p:sp>
      </p:grpSp>
      <p:sp>
        <p:nvSpPr>
          <p:cNvPr name="TextBox 5" id="5"/>
          <p:cNvSpPr txBox="true"/>
          <p:nvPr/>
        </p:nvSpPr>
        <p:spPr>
          <a:xfrm rot="0">
            <a:off x="-312487" y="680991"/>
            <a:ext cx="2424418" cy="157465"/>
          </a:xfrm>
          <a:prstGeom prst="rect">
            <a:avLst/>
          </a:prstGeom>
        </p:spPr>
        <p:txBody>
          <a:bodyPr anchor="t" rtlCol="false" tIns="0" lIns="0" bIns="0" rIns="0">
            <a:spAutoFit/>
          </a:bodyPr>
          <a:lstStyle/>
          <a:p>
            <a:pPr algn="ctr">
              <a:lnSpc>
                <a:spcPts val="1295"/>
              </a:lnSpc>
            </a:pPr>
            <a:r>
              <a:rPr lang="en-US" b="true" sz="925">
                <a:solidFill>
                  <a:srgbClr val="FFFFFF"/>
                </a:solidFill>
                <a:latin typeface="Montserrat Bold"/>
                <a:ea typeface="Montserrat Bold"/>
                <a:cs typeface="Montserrat Bold"/>
                <a:sym typeface="Montserrat Bold"/>
              </a:rPr>
              <a:t>Hướng phát triển</a:t>
            </a:r>
          </a:p>
        </p:txBody>
      </p:sp>
      <p:sp>
        <p:nvSpPr>
          <p:cNvPr name="TextBox 6" id="6"/>
          <p:cNvSpPr txBox="true"/>
          <p:nvPr/>
        </p:nvSpPr>
        <p:spPr>
          <a:xfrm rot="0">
            <a:off x="659459" y="1279525"/>
            <a:ext cx="5824831" cy="1460500"/>
          </a:xfrm>
          <a:prstGeom prst="rect">
            <a:avLst/>
          </a:prstGeom>
        </p:spPr>
        <p:txBody>
          <a:bodyPr anchor="t" rtlCol="false" tIns="0" lIns="0" bIns="0" rIns="0">
            <a:spAutoFit/>
          </a:bodyPr>
          <a:lstStyle/>
          <a:p>
            <a:pPr algn="just" marL="215899" indent="-107950" lvl="1">
              <a:lnSpc>
                <a:spcPts val="1999"/>
              </a:lnSpc>
              <a:buFont typeface="Arial"/>
              <a:buChar char="•"/>
            </a:pPr>
            <a:r>
              <a:rPr lang="en-US" b="true" sz="999">
                <a:solidFill>
                  <a:srgbClr val="0C6980"/>
                </a:solidFill>
                <a:latin typeface="Montserrat Bold"/>
                <a:ea typeface="Montserrat Bold"/>
                <a:cs typeface="Montserrat Bold"/>
                <a:sym typeface="Montserrat Bold"/>
              </a:rPr>
              <a:t>Ứ</a:t>
            </a:r>
            <a:r>
              <a:rPr lang="en-US" b="true" sz="999">
                <a:solidFill>
                  <a:srgbClr val="0C6980"/>
                </a:solidFill>
                <a:latin typeface="Montserrat Bold"/>
                <a:ea typeface="Montserrat Bold"/>
                <a:cs typeface="Montserrat Bold"/>
                <a:sym typeface="Montserrat Bold"/>
              </a:rPr>
              <a:t>ng dụng Generative AI (GenAI): </a:t>
            </a:r>
            <a:r>
              <a:rPr lang="en-US" sz="999">
                <a:solidFill>
                  <a:srgbClr val="0C6980"/>
                </a:solidFill>
                <a:latin typeface="Montserrat"/>
                <a:ea typeface="Montserrat"/>
                <a:cs typeface="Montserrat"/>
                <a:sym typeface="Montserrat"/>
              </a:rPr>
              <a:t>Triển khai lộ trình tích hợp AI để tự động hóa việc sinh kịch bản test (Test Scripts) và dữ liệu test (Test Data) đa dạng.</a:t>
            </a:r>
          </a:p>
          <a:p>
            <a:pPr algn="just" marL="215899" indent="-107950" lvl="1">
              <a:lnSpc>
                <a:spcPts val="1999"/>
              </a:lnSpc>
              <a:buFont typeface="Arial"/>
              <a:buChar char="•"/>
            </a:pPr>
            <a:r>
              <a:rPr lang="en-US" b="true" sz="999">
                <a:solidFill>
                  <a:srgbClr val="0C6980"/>
                </a:solidFill>
                <a:latin typeface="Montserrat Bold"/>
                <a:ea typeface="Montserrat Bold"/>
                <a:cs typeface="Montserrat Bold"/>
                <a:sym typeface="Montserrat Bold"/>
              </a:rPr>
              <a:t>Tăng cường độ phủ mã nguồn: </a:t>
            </a:r>
            <a:r>
              <a:rPr lang="en-US" sz="999">
                <a:solidFill>
                  <a:srgbClr val="0C6980"/>
                </a:solidFill>
                <a:latin typeface="Montserrat"/>
                <a:ea typeface="Montserrat"/>
                <a:cs typeface="Montserrat"/>
                <a:sym typeface="Montserrat"/>
              </a:rPr>
              <a:t>Tiếp tục bổ sung test case cho các thành phần Middleware và Utils để nâng chỉ số Coverage lên trên 80%.</a:t>
            </a:r>
          </a:p>
          <a:p>
            <a:pPr algn="just" marL="215899" indent="-107950" lvl="1">
              <a:lnSpc>
                <a:spcPts val="1999"/>
              </a:lnSpc>
              <a:buFont typeface="Arial"/>
              <a:buChar char="•"/>
            </a:pPr>
            <a:r>
              <a:rPr lang="en-US" b="true" sz="999">
                <a:solidFill>
                  <a:srgbClr val="0C6980"/>
                </a:solidFill>
                <a:latin typeface="Montserrat Bold"/>
                <a:ea typeface="Montserrat Bold"/>
                <a:cs typeface="Montserrat Bold"/>
                <a:sym typeface="Montserrat Bold"/>
              </a:rPr>
              <a:t>Kiểm thử bảo mật chuyên sâu: </a:t>
            </a:r>
            <a:r>
              <a:rPr lang="en-US" sz="999">
                <a:solidFill>
                  <a:srgbClr val="0C6980"/>
                </a:solidFill>
                <a:latin typeface="Montserrat"/>
                <a:ea typeface="Montserrat"/>
                <a:cs typeface="Montserrat"/>
                <a:sym typeface="Montserrat"/>
              </a:rPr>
              <a:t>Thực hiện các bài kiểm thử xâm nhập (Penetration Testing) để bảo vệ hệ thống trước các lỗ hổng XSS, SQL Injection.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DAG8G5XQGbI</dc:identifier>
  <dcterms:modified xsi:type="dcterms:W3CDTF">2011-08-01T06:04:30Z</dcterms:modified>
  <cp:revision>1</cp:revision>
  <dc:title>@evershop shoes store</dc:title>
</cp:coreProperties>
</file>